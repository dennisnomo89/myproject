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6ede02a-256d-e846-f096-9641a02f0f40}">
          <p14:sldIdLst>
            <p14:sldId id="256"/>
            <p14:sldId id="257"/>
            <p14:sldId id="258"/>
          </p14:sldIdLst>
        </p14:section>
        <p14:section name="Design" id="{6ffa8b5b-788a-667c-2086-44a84592f978}">
          <p14:sldIdLst>
            <p14:sldId id="259"/>
            <p14:sldId id="260"/>
            <p14:sldId id="261"/>
          </p14:sldIdLst>
        </p14:section>
        <p14:section name="The system" id="{0923ffe8-b807-1221-9d6e-80e003bb6e84}">
          <p14:sldIdLst>
            <p14:sldId id="262"/>
            <p14:sldId id="263"/>
            <p14:sldId id="264"/>
          </p14:sldIdLst>
        </p14:section>
        <p14:section name="Quality" id="{ff83a5e6-67d4-d13a-e0ce-3a4025510f68}">
          <p14:sldIdLst>
            <p14:sldId id="265"/>
            <p14:sldId id="266"/>
            <p14:sldId id="267"/>
            <p14:sldId id="268"/>
          </p14:sldIdLst>
        </p14:section>
        <p14:section name="Close" id="{d4f87ad9-88f0-6eed-a6f6-0a6bc2bd9074}">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B57"/>
                </a:solidFill>
                <a:latin typeface="+mn-lt"/>
              </a:defRPr>
            </a:pPr>
            <a:r>
              <a:rPr sz="1400" b="0" i="0" u="none" strike="noStrike">
                <a:solidFill>
                  <a:srgbClr val="123B57"/>
                </a:solidFill>
                <a:latin typeface="+mn-lt"/>
              </a:rPr>
              <a:t>Automated tests by area</a:t>
            </a:r>
          </a:p>
        </c:rich>
      </c:tx>
      <c:layout/>
      <c:overlay val="0"/>
    </c:title>
    <c:autoTitleDeleted val="0"/>
    <c:plotArea>
      <c:layout/>
      <c:barChart>
        <c:barDir val="bar"/>
        <c:grouping val="clustered"/>
        <c:varyColors val="0"/>
        <c:ser>
          <c:idx val="0"/>
          <c:order val="0"/>
          <c:tx>
            <c:strRef>
              <c:f>Sheet1!$B$1</c:f>
              <c:strCache>
                <c:ptCount val="1"/>
                <c:pt idx="0">
                  <c:v>Tests</c:v>
                </c:pt>
              </c:strCache>
            </c:strRef>
          </c:tx>
          <c:spPr>
            <a:solidFill>
              <a:srgbClr val="1F5F8B"/>
            </a:solidFill>
            <a:effectLst/>
          </c:spPr>
          <c:invertIfNegative val="0"/>
          <c:dLbls>
            <c:numFmt formatCode="#,##0" sourceLinked="0"/>
            <c:txPr>
              <a:bodyPr/>
              <a:lstStyle/>
              <a:p>
                <a:pPr>
                  <a:defRPr b="0" i="0" strike="noStrike" sz="1200" u="none">
                    <a:solidFill>
                      <a:srgbClr val="1D2733"/>
                    </a:solidFill>
                    <a:latin typeface="+mn-lt"/>
                  </a:defRPr>
                </a:pPr>
              </a:p>
            </c:txPr>
            <c:showLegendKey val="0"/>
            <c:showVal val="1"/>
            <c:showCatName val="0"/>
            <c:showSerName val="0"/>
            <c:showPercent val="0"/>
            <c:showBubbleSize val="0"/>
            <c:showLeaderLines val="0"/>
          </c:dLbls>
          <c:cat>
            <c:multiLvlStrRef>
              <c:f>Sheet1!$A$2:$A$9</c:f>
              <c:multiLvlStrCache>
                <c:ptCount val="8"/>
                <c:lvl>
                  <c:pt idx="0">
                    <c:v>Accounts &amp; security</c:v>
                  </c:pt>
                  <c:pt idx="1">
                    <c:v>Reports &amp; web app</c:v>
                  </c:pt>
                  <c:pt idx="2">
                    <c:v>Backups &amp; migrations</c:v>
                  </c:pt>
                  <c:pt idx="3">
                    <c:v>Fees &amp; email</c:v>
                  </c:pt>
                  <c:pt idx="4">
                    <c:v>Timetable &amp; calendar</c:v>
                  </c:pt>
                  <c:pt idx="5">
                    <c:v>Core &amp; permissions</c:v>
                  </c:pt>
                  <c:pt idx="6">
                    <c:v>Messages</c:v>
                  </c:pt>
                  <c:pt idx="7">
                    <c:v>Attendance &amp; results</c:v>
                  </c:pt>
                </c:lvl>
              </c:multiLvlStrCache>
            </c:multiLvlStrRef>
          </c:cat>
          <c:val>
            <c:numRef>
              <c:f>Sheet1!$B$2:$B$9</c:f>
              <c:numCache>
                <c:formatCode>General</c:formatCode>
                <c:ptCount val="8"/>
                <c:pt idx="0">
                  <c:v>15</c:v>
                </c:pt>
                <c:pt idx="1">
                  <c:v>12</c:v>
                </c:pt>
                <c:pt idx="2">
                  <c:v>11</c:v>
                </c:pt>
                <c:pt idx="3">
                  <c:v>10</c:v>
                </c:pt>
                <c:pt idx="4">
                  <c:v>9</c:v>
                </c:pt>
                <c:pt idx="5">
                  <c:v>7</c:v>
                </c:pt>
                <c:pt idx="6">
                  <c:v>6</c:v>
                </c:pt>
                <c:pt idx="7">
                  <c:v>5</c:v>
                </c:pt>
              </c:numCache>
            </c:numRef>
          </c:val>
        </c:ser>
        <c:dLbls>
          <c:numFmt formatCode="#,##0" sourceLinked="0"/>
          <c:txPr>
            <a:bodyPr/>
            <a:lstStyle/>
            <a:p>
              <a:pPr>
                <a:defRPr b="0" i="0" strike="noStrike" sz="1200" u="none">
                  <a:solidFill>
                    <a:srgbClr val="1D27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1D27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project: a web-based school management system built for Global Virgins Montessori Academy, from our Software Requirements Specification. The picture on the right is the real administrator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current situation described in our SRS: paper registers and spreadsheets, hand-calculated results, hard-to-track fees, and little information for parents. Every one of these costs staff time and risks errors or lost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 then summarise the seven objectives. Point out that each objective is checked off in Chapter 5 of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architecture from left to right: each role uses the React web app in a browser; it talks to the Node.js and Express API over HTTPS; every request passes the security layers before reaching the database. The server also sends emails and keeps daily backups. GitHub runs our 75 tests on every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user signs in to the same system, but sees only what their role allows. Explain each role briefly using the use case diagram. Stress that access is checked on the server for every request, so a parent can only ever see their own children.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one-line tour of the eight modules. All requirements from the SRS are covered, including the Montessori developmental observations on report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administrator dashboard: live counts, today's attendance, fees collected this term, upcoming events and the audit trail of recent activity. Teachers and parents get their own dashboards. If possible, switch to the live demo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type CA (out of 40) and exam (out of 60) scores; the system checks the range and calculates totals, grades, averages and class positions. The report card also shows attendance, Montessori observations and remarks. Parents only see it after the administrator publishes results, and they get an email when that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 pupil's fee statement: billed, paid and balance, with numbered receipts. On the right, a private conversation between a parent and the class teacher. Every new message, receipt and published result can also be emailed.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database has 22 related tables; this diagram shows the academic half. Foreign keys and unique rules stop bad data, for example two attendance records for the same pupil on the same day. Changes to the structure go through migrations, so the school never loses data when the system is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holds children's data, so security was designed in from the start, following the OWASP Top 10. Go through the six measures. Mention that in production the server refuses to start without a strong secret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75 automated tests, grouped as shown in the chart. GitHub runs all of them on two Node.js versions every time anyone pushes code. The tests caught real bugs before release, for example a parent being able to open another family's child, which we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followed an iterative, incremental process. Each of the nine increments was built on its own branch, tested, and submitted as a GitHub pull request, so every member's contribution is visible in the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every SRS requirement is built and tested, and the system is ready to deploy for the school. Then list the recommended next steps and future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If time allows, sign in live as the administrator, a teacher and a parent to show how each role sees different information. The phone screenshot shows that parents can use it on their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937760" cy="137160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ph idx="101" type="body" hasCustomPrompt="1"/>
          </p:nvPr>
        </p:nvSpPr>
        <p:spPr>
          <a:xfrm>
            <a:off x="548640" y="2606040"/>
            <a:ext cx="4937760" cy="54864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754880"/>
            <a:ext cx="5943600" cy="274320"/>
          </a:xfrm>
          <a:prstGeom prst="rect">
            <a:avLst/>
          </a:prstGeom>
          <a:noFill/>
          <a:ln/>
        </p:spPr>
        <p:txBody>
          <a:bodyPr wrap="square" lIns="0" tIns="0" rIns="0" bIns="0" rtlCol="0" anchor="ctr"/>
          <a:lstStyle/>
          <a:p>
            <a:pPr indent="0" marL="0">
              <a:buNone/>
            </a:pPr>
            <a:r>
              <a:rPr lang="en-US" sz="1000" dirty="0">
                <a:solidFill>
                  <a:schemeClr val="accent6"/>
                </a:solidFill>
              </a:rPr>
              <a:t>Global Virgins Montessori Academy  ·  School Management System</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93776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School Management System</a:t>
            </a:r>
            <a:endParaRPr lang="en-US" sz="3600" dirty="0"/>
          </a:p>
        </p:txBody>
      </p:sp>
      <p:sp>
        <p:nvSpPr>
          <p:cNvPr id="3" name="Text 0"/>
          <p:cNvSpPr/>
          <p:nvPr>
            <p:ph idx="101" type="body" hasCustomPrompt="1"/>
          </p:nvPr>
        </p:nvSpPr>
        <p:spPr>
          <a:xfrm>
            <a:off x="548640" y="2606040"/>
            <a:ext cx="4937760" cy="548640"/>
          </a:xfrm>
          <a:prstGeom prst="rect">
            <a:avLst/>
          </a:prstGeom>
          <a:noFill/>
          <a:ln/>
        </p:spPr>
        <p:txBody>
          <a:bodyPr wrap="square" lIns="0" tIns="0" rIns="0" bIns="0" rtlCol="0" anchor="t"/>
          <a:lstStyle/>
          <a:p>
            <a:pPr indent="0" marL="0">
              <a:buNone/>
            </a:pPr>
            <a:r>
              <a:rPr lang="en-US" sz="1800" dirty="0">
                <a:solidFill>
                  <a:schemeClr val="accent2"/>
                </a:solidFill>
              </a:rPr>
              <a:t>for Global Virgins Montessori Academy</a:t>
            </a:r>
            <a:endParaRPr lang="en-US" sz="1800" dirty="0"/>
          </a:p>
        </p:txBody>
      </p:sp>
      <p:sp>
        <p:nvSpPr>
          <p:cNvPr id="4" name="Text 2"/>
          <p:cNvSpPr txBox="1"/>
          <p:nvPr/>
        </p:nvSpPr>
        <p:spPr>
          <a:xfrm>
            <a:off x="548640" y="3337560"/>
            <a:ext cx="4937760" cy="320040"/>
          </a:xfrm>
          <a:prstGeom prst="rect">
            <a:avLst/>
          </a:prstGeom>
          <a:noFill/>
          <a:ln/>
        </p:spPr>
        <p:txBody>
          <a:bodyPr wrap="square" lIns="0" tIns="0" rIns="0" bIns="0" rtlCol="0" anchor="t"/>
          <a:lstStyle/>
          <a:p>
            <a:pPr indent="0" marL="0">
              <a:buNone/>
            </a:pPr>
            <a:r>
              <a:rPr lang="en-US" sz="1400" dirty="0">
                <a:solidFill>
                  <a:schemeClr val="bg1"/>
                </a:solidFill>
              </a:rPr>
              <a:t>Samuel Batu  ·  Fred Wosornu  ·  Seth Mensah Quaye  ·  [Your name]</a:t>
            </a:r>
            <a:endParaRPr lang="en-US" sz="1400" dirty="0"/>
          </a:p>
        </p:txBody>
      </p:sp>
      <p:sp>
        <p:nvSpPr>
          <p:cNvPr id="5" name="Text 3"/>
          <p:cNvSpPr txBox="1"/>
          <p:nvPr/>
        </p:nvSpPr>
        <p:spPr>
          <a:xfrm>
            <a:off x="548640" y="3703320"/>
            <a:ext cx="4937760" cy="320040"/>
          </a:xfrm>
          <a:prstGeom prst="rect">
            <a:avLst/>
          </a:prstGeom>
          <a:noFill/>
          <a:ln/>
        </p:spPr>
        <p:txBody>
          <a:bodyPr wrap="square" lIns="0" tIns="0" rIns="0" bIns="0" rtlCol="0" anchor="t"/>
          <a:lstStyle/>
          <a:p>
            <a:pPr indent="0" marL="0">
              <a:buNone/>
            </a:pPr>
            <a:r>
              <a:rPr lang="en-US" sz="1200" dirty="0">
                <a:solidFill>
                  <a:srgbClr val="B9C9D8"/>
                </a:solidFill>
              </a:rPr>
              <a:t>[Course code]  ·  Supervisor: [Name]  ·  October 2026</a:t>
            </a:r>
            <a:endParaRPr lang="en-US" sz="1200" dirty="0"/>
          </a:p>
        </p:txBody>
      </p:sp>
      <p:pic>
        <p:nvPicPr>
          <p:cNvPr id="6" name="title screenshot" descr="Administrator dashboard">    </p:cNvPr>
          <p:cNvPicPr>
            <a:picLocks noChangeAspect="1"/>
          </p:cNvPicPr>
          <p:nvPr/>
        </p:nvPicPr>
        <p:blipFill>
          <a:blip r:embed="rId1"/>
          <a:stretch>
            <a:fillRect/>
          </a:stretch>
        </p:blipFill>
        <p:spPr>
          <a:xfrm>
            <a:off x="5623560" y="1143000"/>
            <a:ext cx="3246120" cy="2028825"/>
          </a:xfrm>
          <a:prstGeom prst="rect">
            <a:avLst/>
          </a:prstGeom>
          <a:effectLst>
            <a:outerShdw sx="100000" sy="100000" kx="0" ky="0" algn="bl" rotWithShape="0" blurRad="127000" dist="508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The problem today</a:t>
            </a:r>
            <a:endParaRPr lang="en-US" sz="2800" dirty="0"/>
          </a:p>
        </p:txBody>
      </p:sp>
      <p:sp>
        <p:nvSpPr>
          <p:cNvPr id="4" name="problem 1"/>
          <p:cNvSpPr/>
          <p:nvPr/>
        </p:nvSpPr>
        <p:spPr>
          <a:xfrm>
            <a:off x="457200" y="1143000"/>
            <a:ext cx="4023360" cy="1463040"/>
          </a:xfrm>
          <a:prstGeom prst="roundRect">
            <a:avLst>
              <a:gd name="adj" fmla="val 5000"/>
            </a:avLst>
          </a:prstGeom>
          <a:solidFill>
            <a:schemeClr val="bg2"/>
          </a:solidFill>
          <a:ln w="12700">
            <a:solidFill>
              <a:schemeClr val="bg2"/>
            </a:solidFill>
            <a:prstDash val="solid"/>
          </a:ln>
        </p:spPr>
      </p:sp>
      <p:sp>
        <p:nvSpPr>
          <p:cNvPr id="5" name="badge 1"/>
          <p:cNvSpPr/>
          <p:nvPr/>
        </p:nvSpPr>
        <p:spPr>
          <a:xfrm>
            <a:off x="731520" y="1417320"/>
            <a:ext cx="384048" cy="384048"/>
          </a:xfrm>
          <a:prstGeom prst="ellipse">
            <a:avLst/>
          </a:prstGeom>
          <a:solidFill>
            <a:schemeClr val="accent4"/>
          </a:solidFill>
          <a:ln w="12700">
            <a:solidFill>
              <a:schemeClr val="accent4"/>
            </a:solidFill>
            <a:prstDash val="solid"/>
          </a:ln>
        </p:spPr>
      </p:sp>
      <p:sp>
        <p:nvSpPr>
          <p:cNvPr id="6" name="Text 3"/>
          <p:cNvSpPr txBox="1"/>
          <p:nvPr/>
        </p:nvSpPr>
        <p:spPr>
          <a:xfrm>
            <a:off x="731520"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280160" y="1417320"/>
            <a:ext cx="3017520" cy="411480"/>
          </a:xfrm>
          <a:prstGeom prst="rect">
            <a:avLst/>
          </a:prstGeom>
          <a:noFill/>
          <a:ln/>
        </p:spPr>
        <p:txBody>
          <a:bodyPr wrap="square" lIns="0" tIns="0" rIns="0" bIns="0" rtlCol="0" anchor="t"/>
          <a:lstStyle/>
          <a:p>
            <a:pPr indent="0" marL="0">
              <a:buNone/>
            </a:pPr>
            <a:r>
              <a:rPr lang="en-US" sz="1800" b="1" dirty="0">
                <a:solidFill>
                  <a:schemeClr val="tx2"/>
                </a:solidFill>
              </a:rPr>
              <a:t>Paper and spreadsheets</a:t>
            </a:r>
            <a:endParaRPr lang="en-US" sz="1800" dirty="0"/>
          </a:p>
        </p:txBody>
      </p:sp>
      <p:sp>
        <p:nvSpPr>
          <p:cNvPr id="8" name="Text 5"/>
          <p:cNvSpPr txBox="1"/>
          <p:nvPr/>
        </p:nvSpPr>
        <p:spPr>
          <a:xfrm>
            <a:off x="1280160" y="1874520"/>
            <a:ext cx="3017520" cy="640080"/>
          </a:xfrm>
          <a:prstGeom prst="rect">
            <a:avLst/>
          </a:prstGeom>
          <a:noFill/>
          <a:ln/>
        </p:spPr>
        <p:txBody>
          <a:bodyPr wrap="square" lIns="0" tIns="0" rIns="0" bIns="0" rtlCol="0" anchor="t"/>
          <a:lstStyle/>
          <a:p>
            <a:pPr indent="0" marL="0">
              <a:buNone/>
            </a:pPr>
            <a:r>
              <a:rPr lang="en-US" sz="1400" dirty="0">
                <a:solidFill>
                  <a:schemeClr val="tx1"/>
                </a:solidFill>
              </a:rPr>
              <a:t>Records are duplicated, hard to search and easy to lose.</a:t>
            </a:r>
            <a:endParaRPr lang="en-US" sz="1400" dirty="0"/>
          </a:p>
        </p:txBody>
      </p:sp>
      <p:sp>
        <p:nvSpPr>
          <p:cNvPr id="9" name="problem 2"/>
          <p:cNvSpPr/>
          <p:nvPr/>
        </p:nvSpPr>
        <p:spPr>
          <a:xfrm>
            <a:off x="4663440" y="1143000"/>
            <a:ext cx="4023360" cy="1463040"/>
          </a:xfrm>
          <a:prstGeom prst="roundRect">
            <a:avLst>
              <a:gd name="adj" fmla="val 5000"/>
            </a:avLst>
          </a:prstGeom>
          <a:solidFill>
            <a:schemeClr val="bg2"/>
          </a:solidFill>
          <a:ln w="12700">
            <a:solidFill>
              <a:schemeClr val="bg2"/>
            </a:solidFill>
            <a:prstDash val="solid"/>
          </a:ln>
        </p:spPr>
      </p:sp>
      <p:sp>
        <p:nvSpPr>
          <p:cNvPr id="10" name="badge 2"/>
          <p:cNvSpPr/>
          <p:nvPr/>
        </p:nvSpPr>
        <p:spPr>
          <a:xfrm>
            <a:off x="4937760" y="1417320"/>
            <a:ext cx="384048" cy="384048"/>
          </a:xfrm>
          <a:prstGeom prst="ellipse">
            <a:avLst/>
          </a:prstGeom>
          <a:solidFill>
            <a:schemeClr val="accent4"/>
          </a:solidFill>
          <a:ln w="12700">
            <a:solidFill>
              <a:schemeClr val="accent4"/>
            </a:solidFill>
            <a:prstDash val="solid"/>
          </a:ln>
        </p:spPr>
      </p:sp>
      <p:sp>
        <p:nvSpPr>
          <p:cNvPr id="11" name="Text 8"/>
          <p:cNvSpPr txBox="1"/>
          <p:nvPr/>
        </p:nvSpPr>
        <p:spPr>
          <a:xfrm>
            <a:off x="4937760" y="1417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5486400" y="1417320"/>
            <a:ext cx="3017520" cy="411480"/>
          </a:xfrm>
          <a:prstGeom prst="rect">
            <a:avLst/>
          </a:prstGeom>
          <a:noFill/>
          <a:ln/>
        </p:spPr>
        <p:txBody>
          <a:bodyPr wrap="square" lIns="0" tIns="0" rIns="0" bIns="0" rtlCol="0" anchor="t"/>
          <a:lstStyle/>
          <a:p>
            <a:pPr indent="0" marL="0">
              <a:buNone/>
            </a:pPr>
            <a:r>
              <a:rPr lang="en-US" sz="1800" b="1" dirty="0">
                <a:solidFill>
                  <a:schemeClr val="tx2"/>
                </a:solidFill>
              </a:rPr>
              <a:t>Results worked out by hand</a:t>
            </a:r>
            <a:endParaRPr lang="en-US" sz="1800" dirty="0"/>
          </a:p>
        </p:txBody>
      </p:sp>
      <p:sp>
        <p:nvSpPr>
          <p:cNvPr id="13" name="Text 10"/>
          <p:cNvSpPr txBox="1"/>
          <p:nvPr/>
        </p:nvSpPr>
        <p:spPr>
          <a:xfrm>
            <a:off x="5486400" y="1874520"/>
            <a:ext cx="3017520" cy="640080"/>
          </a:xfrm>
          <a:prstGeom prst="rect">
            <a:avLst/>
          </a:prstGeom>
          <a:noFill/>
          <a:ln/>
        </p:spPr>
        <p:txBody>
          <a:bodyPr wrap="square" lIns="0" tIns="0" rIns="0" bIns="0" rtlCol="0" anchor="t"/>
          <a:lstStyle/>
          <a:p>
            <a:pPr indent="0" marL="0">
              <a:buNone/>
            </a:pPr>
            <a:r>
              <a:rPr lang="en-US" sz="1400" dirty="0">
                <a:solidFill>
                  <a:schemeClr val="tx1"/>
                </a:solidFill>
              </a:rPr>
              <a:t>Totals, grades and positions take days each term, with errors.</a:t>
            </a:r>
            <a:endParaRPr lang="en-US" sz="1400" dirty="0"/>
          </a:p>
        </p:txBody>
      </p:sp>
      <p:sp>
        <p:nvSpPr>
          <p:cNvPr id="14" name="problem 3"/>
          <p:cNvSpPr/>
          <p:nvPr/>
        </p:nvSpPr>
        <p:spPr>
          <a:xfrm>
            <a:off x="457200" y="2834640"/>
            <a:ext cx="4023360" cy="1463040"/>
          </a:xfrm>
          <a:prstGeom prst="roundRect">
            <a:avLst>
              <a:gd name="adj" fmla="val 5000"/>
            </a:avLst>
          </a:prstGeom>
          <a:solidFill>
            <a:schemeClr val="bg2"/>
          </a:solidFill>
          <a:ln w="12700">
            <a:solidFill>
              <a:schemeClr val="bg2"/>
            </a:solidFill>
            <a:prstDash val="solid"/>
          </a:ln>
        </p:spPr>
      </p:sp>
      <p:sp>
        <p:nvSpPr>
          <p:cNvPr id="15" name="badge 3"/>
          <p:cNvSpPr/>
          <p:nvPr/>
        </p:nvSpPr>
        <p:spPr>
          <a:xfrm>
            <a:off x="731520" y="3108960"/>
            <a:ext cx="384048" cy="384048"/>
          </a:xfrm>
          <a:prstGeom prst="ellipse">
            <a:avLst/>
          </a:prstGeom>
          <a:solidFill>
            <a:schemeClr val="accent4"/>
          </a:solidFill>
          <a:ln w="12700">
            <a:solidFill>
              <a:schemeClr val="accent4"/>
            </a:solidFill>
            <a:prstDash val="solid"/>
          </a:ln>
        </p:spPr>
      </p:sp>
      <p:sp>
        <p:nvSpPr>
          <p:cNvPr id="16" name="Text 13"/>
          <p:cNvSpPr txBox="1"/>
          <p:nvPr/>
        </p:nvSpPr>
        <p:spPr>
          <a:xfrm>
            <a:off x="731520"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1280160" y="31089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Fees hard to track</a:t>
            </a:r>
            <a:endParaRPr lang="en-US" sz="1800" dirty="0"/>
          </a:p>
        </p:txBody>
      </p:sp>
      <p:sp>
        <p:nvSpPr>
          <p:cNvPr id="18" name="Text 15"/>
          <p:cNvSpPr txBox="1"/>
          <p:nvPr/>
        </p:nvSpPr>
        <p:spPr>
          <a:xfrm>
            <a:off x="1280160" y="3566160"/>
            <a:ext cx="3017520" cy="640080"/>
          </a:xfrm>
          <a:prstGeom prst="rect">
            <a:avLst/>
          </a:prstGeom>
          <a:noFill/>
          <a:ln/>
        </p:spPr>
        <p:txBody>
          <a:bodyPr wrap="square" lIns="0" tIns="0" rIns="0" bIns="0" rtlCol="0" anchor="t"/>
          <a:lstStyle/>
          <a:p>
            <a:pPr indent="0" marL="0">
              <a:buNone/>
            </a:pPr>
            <a:r>
              <a:rPr lang="en-US" sz="1400" dirty="0">
                <a:solidFill>
                  <a:schemeClr val="tx1"/>
                </a:solidFill>
              </a:rPr>
              <a:t>Balances, receipts and follow-up take a lot of office time.</a:t>
            </a:r>
            <a:endParaRPr lang="en-US" sz="1400" dirty="0"/>
          </a:p>
        </p:txBody>
      </p:sp>
      <p:sp>
        <p:nvSpPr>
          <p:cNvPr id="19" name="problem 4"/>
          <p:cNvSpPr/>
          <p:nvPr/>
        </p:nvSpPr>
        <p:spPr>
          <a:xfrm>
            <a:off x="4663440" y="2834640"/>
            <a:ext cx="4023360" cy="1463040"/>
          </a:xfrm>
          <a:prstGeom prst="roundRect">
            <a:avLst>
              <a:gd name="adj" fmla="val 5000"/>
            </a:avLst>
          </a:prstGeom>
          <a:solidFill>
            <a:schemeClr val="bg2"/>
          </a:solidFill>
          <a:ln w="12700">
            <a:solidFill>
              <a:schemeClr val="bg2"/>
            </a:solidFill>
            <a:prstDash val="solid"/>
          </a:ln>
        </p:spPr>
      </p:sp>
      <p:sp>
        <p:nvSpPr>
          <p:cNvPr id="20" name="badge 4"/>
          <p:cNvSpPr/>
          <p:nvPr/>
        </p:nvSpPr>
        <p:spPr>
          <a:xfrm>
            <a:off x="4937760" y="3108960"/>
            <a:ext cx="384048" cy="384048"/>
          </a:xfrm>
          <a:prstGeom prst="ellipse">
            <a:avLst/>
          </a:prstGeom>
          <a:solidFill>
            <a:schemeClr val="accent4"/>
          </a:solidFill>
          <a:ln w="12700">
            <a:solidFill>
              <a:schemeClr val="accent4"/>
            </a:solidFill>
            <a:prstDash val="solid"/>
          </a:ln>
        </p:spPr>
      </p:sp>
      <p:sp>
        <p:nvSpPr>
          <p:cNvPr id="21" name="Text 18"/>
          <p:cNvSpPr txBox="1"/>
          <p:nvPr/>
        </p:nvSpPr>
        <p:spPr>
          <a:xfrm>
            <a:off x="4937760" y="31089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5486400" y="3108960"/>
            <a:ext cx="3017520" cy="411480"/>
          </a:xfrm>
          <a:prstGeom prst="rect">
            <a:avLst/>
          </a:prstGeom>
          <a:noFill/>
          <a:ln/>
        </p:spPr>
        <p:txBody>
          <a:bodyPr wrap="square" lIns="0" tIns="0" rIns="0" bIns="0" rtlCol="0" anchor="t"/>
          <a:lstStyle/>
          <a:p>
            <a:pPr indent="0" marL="0">
              <a:buNone/>
            </a:pPr>
            <a:r>
              <a:rPr lang="en-US" sz="1800" b="1" dirty="0">
                <a:solidFill>
                  <a:schemeClr val="tx2"/>
                </a:solidFill>
              </a:rPr>
              <a:t>Parents kept in the dark</a:t>
            </a:r>
            <a:endParaRPr lang="en-US" sz="1800" dirty="0"/>
          </a:p>
        </p:txBody>
      </p:sp>
      <p:sp>
        <p:nvSpPr>
          <p:cNvPr id="23" name="Text 20"/>
          <p:cNvSpPr txBox="1"/>
          <p:nvPr/>
        </p:nvSpPr>
        <p:spPr>
          <a:xfrm>
            <a:off x="5486400" y="3566160"/>
            <a:ext cx="3017520" cy="640080"/>
          </a:xfrm>
          <a:prstGeom prst="rect">
            <a:avLst/>
          </a:prstGeom>
          <a:noFill/>
          <a:ln/>
        </p:spPr>
        <p:txBody>
          <a:bodyPr wrap="square" lIns="0" tIns="0" rIns="0" bIns="0" rtlCol="0" anchor="t"/>
          <a:lstStyle/>
          <a:p>
            <a:pPr indent="0" marL="0">
              <a:buNone/>
            </a:pPr>
            <a:r>
              <a:rPr lang="en-US" sz="1400" dirty="0">
                <a:solidFill>
                  <a:schemeClr val="tx1"/>
                </a:solidFill>
              </a:rPr>
              <a:t>Little visibility of attendance, results or fees; no backup either.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Aim and objectives</a:t>
            </a:r>
            <a:endParaRPr lang="en-US" sz="2800" dirty="0"/>
          </a:p>
        </p:txBody>
      </p:sp>
      <p:sp>
        <p:nvSpPr>
          <p:cNvPr id="4" name="aim card"/>
          <p:cNvSpPr/>
          <p:nvPr/>
        </p:nvSpPr>
        <p:spPr>
          <a:xfrm>
            <a:off x="457200" y="1097280"/>
            <a:ext cx="3291840" cy="3383280"/>
          </a:xfrm>
          <a:prstGeom prst="roundRect">
            <a:avLst>
              <a:gd name="adj" fmla="val 2222"/>
            </a:avLst>
          </a:prstGeom>
          <a:solidFill>
            <a:schemeClr val="bg2"/>
          </a:solidFill>
          <a:ln w="12700">
            <a:solidFill>
              <a:schemeClr val="bg2"/>
            </a:solidFill>
            <a:prstDash val="solid"/>
          </a:ln>
        </p:spPr>
      </p:sp>
      <p:sp>
        <p:nvSpPr>
          <p:cNvPr id="5" name="Text 2"/>
          <p:cNvSpPr txBox="1"/>
          <p:nvPr/>
        </p:nvSpPr>
        <p:spPr>
          <a:xfrm>
            <a:off x="731520" y="1325880"/>
            <a:ext cx="2743200"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AIM</a:t>
            </a:r>
            <a:endParaRPr lang="en-US" sz="1200" dirty="0"/>
          </a:p>
        </p:txBody>
      </p:sp>
      <p:sp>
        <p:nvSpPr>
          <p:cNvPr id="6" name="Text 3"/>
          <p:cNvSpPr txBox="1"/>
          <p:nvPr/>
        </p:nvSpPr>
        <p:spPr>
          <a:xfrm>
            <a:off x="731520" y="1691640"/>
            <a:ext cx="2743200" cy="2560320"/>
          </a:xfrm>
          <a:prstGeom prst="rect">
            <a:avLst/>
          </a:prstGeom>
          <a:noFill/>
          <a:ln/>
        </p:spPr>
        <p:txBody>
          <a:bodyPr wrap="square" lIns="0" tIns="0" rIns="0" bIns="0" rtlCol="0" anchor="t"/>
          <a:lstStyle/>
          <a:p>
            <a:pPr indent="0" marL="0">
              <a:buNone/>
            </a:pPr>
            <a:r>
              <a:rPr lang="en-US" sz="1800" i="1" dirty="0">
                <a:solidFill>
                  <a:schemeClr val="tx2"/>
                </a:solidFill>
                <a:latin typeface="Cambria" pitchFamily="34" charset="0"/>
                <a:ea typeface="Cambria" pitchFamily="34" charset="-122"/>
                <a:cs typeface="Cambria" pitchFamily="34" charset="-120"/>
              </a:rPr>
              <a:t>A secure, easy-to-use web system that makes the school's academic and administrative work faster, more accurate and more transparent.</a:t>
            </a:r>
            <a:endParaRPr lang="en-US" sz="1800" dirty="0"/>
          </a:p>
        </p:txBody>
      </p:sp>
      <p:sp>
        <p:nvSpPr>
          <p:cNvPr id="7" name="badge 1"/>
          <p:cNvSpPr/>
          <p:nvPr/>
        </p:nvSpPr>
        <p:spPr>
          <a:xfrm>
            <a:off x="4069080" y="1115568"/>
            <a:ext cx="329184" cy="329184"/>
          </a:xfrm>
          <a:prstGeom prst="ellipse">
            <a:avLst/>
          </a:prstGeom>
          <a:solidFill>
            <a:schemeClr val="accent2"/>
          </a:solidFill>
          <a:ln w="12700">
            <a:solidFill>
              <a:schemeClr val="accent2"/>
            </a:solidFill>
            <a:prstDash val="solid"/>
          </a:ln>
        </p:spPr>
      </p:sp>
      <p:sp>
        <p:nvSpPr>
          <p:cNvPr id="8" name="Text 5"/>
          <p:cNvSpPr txBox="1"/>
          <p:nvPr/>
        </p:nvSpPr>
        <p:spPr>
          <a:xfrm>
            <a:off x="4069080" y="111556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9" name="Text 6"/>
          <p:cNvSpPr txBox="1"/>
          <p:nvPr/>
        </p:nvSpPr>
        <p:spPr>
          <a:xfrm>
            <a:off x="4526280" y="1097280"/>
            <a:ext cx="4160520" cy="411480"/>
          </a:xfrm>
          <a:prstGeom prst="rect">
            <a:avLst/>
          </a:prstGeom>
          <a:noFill/>
          <a:ln/>
        </p:spPr>
        <p:txBody>
          <a:bodyPr wrap="square" lIns="0" tIns="0" rIns="0" bIns="0" rtlCol="0" anchor="ctr"/>
          <a:lstStyle/>
          <a:p>
            <a:pPr indent="0" marL="0">
              <a:buNone/>
            </a:pPr>
            <a:r>
              <a:rPr lang="en-US" sz="1400" dirty="0">
                <a:solidFill>
                  <a:schemeClr val="tx1"/>
                </a:solidFill>
              </a:rPr>
              <a:t>Specify the requirements (SRS)</a:t>
            </a:r>
            <a:endParaRPr lang="en-US" sz="1400" dirty="0"/>
          </a:p>
        </p:txBody>
      </p:sp>
      <p:sp>
        <p:nvSpPr>
          <p:cNvPr id="10" name="badge 2"/>
          <p:cNvSpPr/>
          <p:nvPr/>
        </p:nvSpPr>
        <p:spPr>
          <a:xfrm>
            <a:off x="4069080" y="1600200"/>
            <a:ext cx="329184" cy="329184"/>
          </a:xfrm>
          <a:prstGeom prst="ellipse">
            <a:avLst/>
          </a:prstGeom>
          <a:solidFill>
            <a:schemeClr val="accent2"/>
          </a:solidFill>
          <a:ln w="12700">
            <a:solidFill>
              <a:schemeClr val="accent2"/>
            </a:solidFill>
            <a:prstDash val="solid"/>
          </a:ln>
        </p:spPr>
      </p:sp>
      <p:sp>
        <p:nvSpPr>
          <p:cNvPr id="11" name="Text 8"/>
          <p:cNvSpPr txBox="1"/>
          <p:nvPr/>
        </p:nvSpPr>
        <p:spPr>
          <a:xfrm>
            <a:off x="4069080" y="160020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Text 9"/>
          <p:cNvSpPr txBox="1"/>
          <p:nvPr/>
        </p:nvSpPr>
        <p:spPr>
          <a:xfrm>
            <a:off x="4526280" y="1581912"/>
            <a:ext cx="4160520" cy="411480"/>
          </a:xfrm>
          <a:prstGeom prst="rect">
            <a:avLst/>
          </a:prstGeom>
          <a:noFill/>
          <a:ln/>
        </p:spPr>
        <p:txBody>
          <a:bodyPr wrap="square" lIns="0" tIns="0" rIns="0" bIns="0" rtlCol="0" anchor="ctr"/>
          <a:lstStyle/>
          <a:p>
            <a:pPr indent="0" marL="0">
              <a:buNone/>
            </a:pPr>
            <a:r>
              <a:rPr lang="en-US" sz="1400" dirty="0">
                <a:solidFill>
                  <a:schemeClr val="tx1"/>
                </a:solidFill>
              </a:rPr>
              <a:t>Design one central database</a:t>
            </a:r>
            <a:endParaRPr lang="en-US" sz="1400" dirty="0"/>
          </a:p>
        </p:txBody>
      </p:sp>
      <p:sp>
        <p:nvSpPr>
          <p:cNvPr id="13" name="badge 3"/>
          <p:cNvSpPr/>
          <p:nvPr/>
        </p:nvSpPr>
        <p:spPr>
          <a:xfrm>
            <a:off x="4069080" y="2084832"/>
            <a:ext cx="329184" cy="329184"/>
          </a:xfrm>
          <a:prstGeom prst="ellipse">
            <a:avLst/>
          </a:prstGeom>
          <a:solidFill>
            <a:schemeClr val="accent2"/>
          </a:solidFill>
          <a:ln w="12700">
            <a:solidFill>
              <a:schemeClr val="accent2"/>
            </a:solidFill>
            <a:prstDash val="solid"/>
          </a:ln>
        </p:spPr>
      </p:sp>
      <p:sp>
        <p:nvSpPr>
          <p:cNvPr id="14" name="Text 11"/>
          <p:cNvSpPr txBox="1"/>
          <p:nvPr/>
        </p:nvSpPr>
        <p:spPr>
          <a:xfrm>
            <a:off x="4069080" y="2084832"/>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5" name="Text 12"/>
          <p:cNvSpPr txBox="1"/>
          <p:nvPr/>
        </p:nvSpPr>
        <p:spPr>
          <a:xfrm>
            <a:off x="4526280" y="2066544"/>
            <a:ext cx="4160520" cy="411480"/>
          </a:xfrm>
          <a:prstGeom prst="rect">
            <a:avLst/>
          </a:prstGeom>
          <a:noFill/>
          <a:ln/>
        </p:spPr>
        <p:txBody>
          <a:bodyPr wrap="square" lIns="0" tIns="0" rIns="0" bIns="0" rtlCol="0" anchor="ctr"/>
          <a:lstStyle/>
          <a:p>
            <a:pPr indent="0" marL="0">
              <a:buNone/>
            </a:pPr>
            <a:r>
              <a:rPr lang="en-US" sz="1400" dirty="0">
                <a:solidFill>
                  <a:schemeClr val="tx1"/>
                </a:solidFill>
              </a:rPr>
              <a:t>Build every module: records, attendance, results, fees, timetable, communication, reports</a:t>
            </a:r>
            <a:endParaRPr lang="en-US" sz="1400" dirty="0"/>
          </a:p>
        </p:txBody>
      </p:sp>
      <p:sp>
        <p:nvSpPr>
          <p:cNvPr id="16" name="badge 4"/>
          <p:cNvSpPr/>
          <p:nvPr/>
        </p:nvSpPr>
        <p:spPr>
          <a:xfrm>
            <a:off x="4069080" y="2569464"/>
            <a:ext cx="329184" cy="329184"/>
          </a:xfrm>
          <a:prstGeom prst="ellipse">
            <a:avLst/>
          </a:prstGeom>
          <a:solidFill>
            <a:schemeClr val="accent2"/>
          </a:solidFill>
          <a:ln w="12700">
            <a:solidFill>
              <a:schemeClr val="accent2"/>
            </a:solidFill>
            <a:prstDash val="solid"/>
          </a:ln>
        </p:spPr>
      </p:sp>
      <p:sp>
        <p:nvSpPr>
          <p:cNvPr id="17" name="Text 14"/>
          <p:cNvSpPr txBox="1"/>
          <p:nvPr/>
        </p:nvSpPr>
        <p:spPr>
          <a:xfrm>
            <a:off x="4069080" y="2569464"/>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8" name="Text 15"/>
          <p:cNvSpPr txBox="1"/>
          <p:nvPr/>
        </p:nvSpPr>
        <p:spPr>
          <a:xfrm>
            <a:off x="4526280" y="2551176"/>
            <a:ext cx="4160520" cy="411480"/>
          </a:xfrm>
          <a:prstGeom prst="rect">
            <a:avLst/>
          </a:prstGeom>
          <a:noFill/>
          <a:ln/>
        </p:spPr>
        <p:txBody>
          <a:bodyPr wrap="square" lIns="0" tIns="0" rIns="0" bIns="0" rtlCol="0" anchor="ctr"/>
          <a:lstStyle/>
          <a:p>
            <a:pPr indent="0" marL="0">
              <a:buNone/>
            </a:pPr>
            <a:r>
              <a:rPr lang="en-US" sz="1400" dirty="0">
                <a:solidFill>
                  <a:schemeClr val="tx1"/>
                </a:solidFill>
              </a:rPr>
              <a:t>Role-based access for admin, teachers, bursar and parents</a:t>
            </a:r>
            <a:endParaRPr lang="en-US" sz="1400" dirty="0"/>
          </a:p>
        </p:txBody>
      </p:sp>
      <p:sp>
        <p:nvSpPr>
          <p:cNvPr id="19" name="badge 5"/>
          <p:cNvSpPr/>
          <p:nvPr/>
        </p:nvSpPr>
        <p:spPr>
          <a:xfrm>
            <a:off x="4069080" y="3054096"/>
            <a:ext cx="329184" cy="329184"/>
          </a:xfrm>
          <a:prstGeom prst="ellipse">
            <a:avLst/>
          </a:prstGeom>
          <a:solidFill>
            <a:schemeClr val="accent2"/>
          </a:solidFill>
          <a:ln w="12700">
            <a:solidFill>
              <a:schemeClr val="accent2"/>
            </a:solidFill>
            <a:prstDash val="solid"/>
          </a:ln>
        </p:spPr>
      </p:sp>
      <p:sp>
        <p:nvSpPr>
          <p:cNvPr id="20" name="Text 17"/>
          <p:cNvSpPr txBox="1"/>
          <p:nvPr/>
        </p:nvSpPr>
        <p:spPr>
          <a:xfrm>
            <a:off x="4069080" y="3054096"/>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21" name="Text 18"/>
          <p:cNvSpPr txBox="1"/>
          <p:nvPr/>
        </p:nvSpPr>
        <p:spPr>
          <a:xfrm>
            <a:off x="4526280" y="3035808"/>
            <a:ext cx="4160520" cy="411480"/>
          </a:xfrm>
          <a:prstGeom prst="rect">
            <a:avLst/>
          </a:prstGeom>
          <a:noFill/>
          <a:ln/>
        </p:spPr>
        <p:txBody>
          <a:bodyPr wrap="square" lIns="0" tIns="0" rIns="0" bIns="0" rtlCol="0" anchor="ctr"/>
          <a:lstStyle/>
          <a:p>
            <a:pPr indent="0" marL="0">
              <a:buNone/>
            </a:pPr>
            <a:r>
              <a:rPr lang="en-US" sz="1400" dirty="0">
                <a:solidFill>
                  <a:schemeClr val="tx1"/>
                </a:solidFill>
              </a:rPr>
              <a:t>Automate grades, report cards, receipts and reports</a:t>
            </a:r>
            <a:endParaRPr lang="en-US" sz="1400" dirty="0"/>
          </a:p>
        </p:txBody>
      </p:sp>
      <p:sp>
        <p:nvSpPr>
          <p:cNvPr id="22" name="badge 6"/>
          <p:cNvSpPr/>
          <p:nvPr/>
        </p:nvSpPr>
        <p:spPr>
          <a:xfrm>
            <a:off x="4069080" y="3538728"/>
            <a:ext cx="329184" cy="329184"/>
          </a:xfrm>
          <a:prstGeom prst="ellipse">
            <a:avLst/>
          </a:prstGeom>
          <a:solidFill>
            <a:schemeClr val="accent2"/>
          </a:solidFill>
          <a:ln w="12700">
            <a:solidFill>
              <a:schemeClr val="accent2"/>
            </a:solidFill>
            <a:prstDash val="solid"/>
          </a:ln>
        </p:spPr>
      </p:sp>
      <p:sp>
        <p:nvSpPr>
          <p:cNvPr id="23" name="Text 20"/>
          <p:cNvSpPr txBox="1"/>
          <p:nvPr/>
        </p:nvSpPr>
        <p:spPr>
          <a:xfrm>
            <a:off x="4069080" y="3538728"/>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24" name="Text 21"/>
          <p:cNvSpPr txBox="1"/>
          <p:nvPr/>
        </p:nvSpPr>
        <p:spPr>
          <a:xfrm>
            <a:off x="4526280" y="3520440"/>
            <a:ext cx="4160520" cy="411480"/>
          </a:xfrm>
          <a:prstGeom prst="rect">
            <a:avLst/>
          </a:prstGeom>
          <a:noFill/>
          <a:ln/>
        </p:spPr>
        <p:txBody>
          <a:bodyPr wrap="square" lIns="0" tIns="0" rIns="0" bIns="0" rtlCol="0" anchor="ctr"/>
          <a:lstStyle/>
          <a:p>
            <a:pPr indent="0" marL="0">
              <a:buNone/>
            </a:pPr>
            <a:r>
              <a:rPr lang="en-US" sz="1400" dirty="0">
                <a:solidFill>
                  <a:schemeClr val="tx1"/>
                </a:solidFill>
              </a:rPr>
              <a:t>Test against the requirements, in a production-like setting</a:t>
            </a:r>
            <a:endParaRPr lang="en-US" sz="1400" dirty="0"/>
          </a:p>
        </p:txBody>
      </p:sp>
      <p:sp>
        <p:nvSpPr>
          <p:cNvPr id="25" name="badge 7"/>
          <p:cNvSpPr/>
          <p:nvPr/>
        </p:nvSpPr>
        <p:spPr>
          <a:xfrm>
            <a:off x="4069080" y="4023360"/>
            <a:ext cx="329184" cy="329184"/>
          </a:xfrm>
          <a:prstGeom prst="ellipse">
            <a:avLst/>
          </a:prstGeom>
          <a:solidFill>
            <a:schemeClr val="accent2"/>
          </a:solidFill>
          <a:ln w="12700">
            <a:solidFill>
              <a:schemeClr val="accent2"/>
            </a:solidFill>
            <a:prstDash val="solid"/>
          </a:ln>
        </p:spPr>
      </p:sp>
      <p:sp>
        <p:nvSpPr>
          <p:cNvPr id="26" name="Text 23"/>
          <p:cNvSpPr txBox="1"/>
          <p:nvPr/>
        </p:nvSpPr>
        <p:spPr>
          <a:xfrm>
            <a:off x="4069080" y="4023360"/>
            <a:ext cx="329184" cy="329184"/>
          </a:xfrm>
          <a:prstGeom prst="rect">
            <a:avLst/>
          </a:prstGeom>
          <a:noFill/>
          <a:ln/>
        </p:spPr>
        <p:txBody>
          <a:bodyPr wrap="square" lIns="0" tIns="0" rIns="0" bIns="0" rtlCol="0" anchor="ctr"/>
          <a:lstStyle/>
          <a:p>
            <a:pPr algn="ctr" indent="0" marL="0">
              <a:buNone/>
            </a:pPr>
            <a:r>
              <a:rPr lang="en-US" sz="1400" b="1" dirty="0">
                <a:solidFill>
                  <a:schemeClr val="tx2"/>
                </a:solidFill>
              </a:rPr>
              <a:t>7</a:t>
            </a:r>
            <a:endParaRPr lang="en-US" sz="1400" dirty="0"/>
          </a:p>
        </p:txBody>
      </p:sp>
      <p:sp>
        <p:nvSpPr>
          <p:cNvPr id="27" name="Text 24"/>
          <p:cNvSpPr txBox="1"/>
          <p:nvPr/>
        </p:nvSpPr>
        <p:spPr>
          <a:xfrm>
            <a:off x="4526280" y="4005072"/>
            <a:ext cx="4160520" cy="411480"/>
          </a:xfrm>
          <a:prstGeom prst="rect">
            <a:avLst/>
          </a:prstGeom>
          <a:noFill/>
          <a:ln/>
        </p:spPr>
        <p:txBody>
          <a:bodyPr wrap="square" lIns="0" tIns="0" rIns="0" bIns="0" rtlCol="0" anchor="ctr"/>
          <a:lstStyle/>
          <a:p>
            <a:pPr indent="0" marL="0">
              <a:buNone/>
            </a:pPr>
            <a:r>
              <a:rPr lang="en-US" sz="1400" dirty="0">
                <a:solidFill>
                  <a:schemeClr val="tx1"/>
                </a:solidFill>
              </a:rPr>
              <a:t>Develop together on GitHub with traceable contributions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How it works</a:t>
            </a:r>
            <a:endParaRPr lang="en-US" sz="2800" dirty="0"/>
          </a:p>
        </p:txBody>
      </p:sp>
      <p:pic>
        <p:nvPicPr>
          <p:cNvPr id="4" name="architecture diagram" descr="System architecture diagram">    </p:cNvPr>
          <p:cNvPicPr>
            <a:picLocks noChangeAspect="1"/>
          </p:cNvPicPr>
          <p:nvPr/>
        </p:nvPicPr>
        <p:blipFill>
          <a:blip r:embed="rId1"/>
          <a:stretch>
            <a:fillRect/>
          </a:stretch>
        </p:blipFill>
        <p:spPr>
          <a:xfrm>
            <a:off x="1530145" y="1024128"/>
            <a:ext cx="6083710" cy="3429000"/>
          </a:xfrm>
          <a:prstGeom prst="rect">
            <a:avLst/>
          </a:prstGeom>
        </p:spPr>
      </p:pic>
      <p:sp>
        <p:nvSpPr>
          <p:cNvPr id="5" name="Text 1"/>
          <p:cNvSpPr txBox="1"/>
          <p:nvPr/>
        </p:nvSpPr>
        <p:spPr>
          <a:xfrm>
            <a:off x="457200" y="4480560"/>
            <a:ext cx="8229600" cy="274320"/>
          </a:xfrm>
          <a:prstGeom prst="rect">
            <a:avLst/>
          </a:prstGeom>
          <a:noFill/>
          <a:ln/>
        </p:spPr>
        <p:txBody>
          <a:bodyPr wrap="square" lIns="0" tIns="0" rIns="0" bIns="0" rtlCol="0" anchor="t"/>
          <a:lstStyle/>
          <a:p>
            <a:pPr algn="ctr" indent="0" marL="0">
              <a:buNone/>
            </a:pPr>
            <a:r>
              <a:rPr lang="en-US" sz="1200" dirty="0">
                <a:solidFill>
                  <a:schemeClr val="accent6"/>
                </a:solidFill>
              </a:rPr>
              <a:t>Three tiers: React web app  →  Node.js + Express API  →  SQLite / MySQL database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Four roles, one system</a:t>
            </a:r>
            <a:endParaRPr lang="en-US" sz="2800" dirty="0"/>
          </a:p>
        </p:txBody>
      </p:sp>
      <p:pic>
        <p:nvPicPr>
          <p:cNvPr id="4" name="use case diagram" descr="Use case diagram">    </p:cNvPr>
          <p:cNvPicPr>
            <a:picLocks noChangeAspect="1"/>
          </p:cNvPicPr>
          <p:nvPr/>
        </p:nvPicPr>
        <p:blipFill>
          <a:blip r:embed="rId1"/>
          <a:stretch>
            <a:fillRect/>
          </a:stretch>
        </p:blipFill>
        <p:spPr>
          <a:xfrm>
            <a:off x="457200" y="1005840"/>
            <a:ext cx="4023360" cy="3511916"/>
          </a:xfrm>
          <a:prstGeom prst="rect">
            <a:avLst/>
          </a:prstGeom>
        </p:spPr>
      </p:pic>
      <p:sp>
        <p:nvSpPr>
          <p:cNvPr id="5" name="role Administrator"/>
          <p:cNvSpPr/>
          <p:nvPr/>
        </p:nvSpPr>
        <p:spPr>
          <a:xfrm>
            <a:off x="4709160" y="1051560"/>
            <a:ext cx="3977640" cy="749808"/>
          </a:xfrm>
          <a:prstGeom prst="roundRect">
            <a:avLst>
              <a:gd name="adj" fmla="val 9756"/>
            </a:avLst>
          </a:prstGeom>
          <a:solidFill>
            <a:schemeClr val="bg2"/>
          </a:solidFill>
          <a:ln w="12700">
            <a:solidFill>
              <a:schemeClr val="bg2"/>
            </a:solidFill>
            <a:prstDash val="solid"/>
          </a:ln>
        </p:spPr>
      </p:sp>
      <p:sp>
        <p:nvSpPr>
          <p:cNvPr id="6" name="Text 2"/>
          <p:cNvSpPr txBox="1"/>
          <p:nvPr/>
        </p:nvSpPr>
        <p:spPr>
          <a:xfrm>
            <a:off x="4892040" y="1124712"/>
            <a:ext cx="3657600" cy="292608"/>
          </a:xfrm>
          <a:prstGeom prst="rect">
            <a:avLst/>
          </a:prstGeom>
          <a:noFill/>
          <a:ln/>
        </p:spPr>
        <p:txBody>
          <a:bodyPr wrap="square" lIns="0" tIns="0" rIns="0" bIns="0" rtlCol="0" anchor="t"/>
          <a:lstStyle/>
          <a:p>
            <a:pPr indent="0" marL="0">
              <a:buNone/>
            </a:pPr>
            <a:r>
              <a:rPr lang="en-US" sz="1600" b="1" dirty="0">
                <a:solidFill>
                  <a:schemeClr val="accent1"/>
                </a:solidFill>
              </a:rPr>
              <a:t>Administrator</a:t>
            </a:r>
            <a:endParaRPr lang="en-US" sz="1600" dirty="0"/>
          </a:p>
        </p:txBody>
      </p:sp>
      <p:sp>
        <p:nvSpPr>
          <p:cNvPr id="7" name="Text 3"/>
          <p:cNvSpPr txBox="1"/>
          <p:nvPr/>
        </p:nvSpPr>
        <p:spPr>
          <a:xfrm>
            <a:off x="4892040" y="1417320"/>
            <a:ext cx="3657600" cy="347472"/>
          </a:xfrm>
          <a:prstGeom prst="rect">
            <a:avLst/>
          </a:prstGeom>
          <a:noFill/>
          <a:ln/>
        </p:spPr>
        <p:txBody>
          <a:bodyPr wrap="square" lIns="0" tIns="0" rIns="0" bIns="0" rtlCol="0" anchor="t"/>
          <a:lstStyle/>
          <a:p>
            <a:pPr indent="0" marL="0">
              <a:buNone/>
            </a:pPr>
            <a:r>
              <a:rPr lang="en-US" sz="1200" dirty="0">
                <a:solidFill>
                  <a:schemeClr val="tx1"/>
                </a:solidFill>
              </a:rPr>
              <a:t>Users, classes, terms, timetable, publishing results, reports, backups</a:t>
            </a:r>
            <a:endParaRPr lang="en-US" sz="1200" dirty="0"/>
          </a:p>
        </p:txBody>
      </p:sp>
      <p:sp>
        <p:nvSpPr>
          <p:cNvPr id="8" name="role Teacher"/>
          <p:cNvSpPr/>
          <p:nvPr/>
        </p:nvSpPr>
        <p:spPr>
          <a:xfrm>
            <a:off x="4709160" y="1920240"/>
            <a:ext cx="3977640" cy="749808"/>
          </a:xfrm>
          <a:prstGeom prst="roundRect">
            <a:avLst>
              <a:gd name="adj" fmla="val 9756"/>
            </a:avLst>
          </a:prstGeom>
          <a:solidFill>
            <a:schemeClr val="bg2"/>
          </a:solidFill>
          <a:ln w="12700">
            <a:solidFill>
              <a:schemeClr val="bg2"/>
            </a:solidFill>
            <a:prstDash val="solid"/>
          </a:ln>
        </p:spPr>
      </p:sp>
      <p:sp>
        <p:nvSpPr>
          <p:cNvPr id="9" name="Text 5"/>
          <p:cNvSpPr txBox="1"/>
          <p:nvPr/>
        </p:nvSpPr>
        <p:spPr>
          <a:xfrm>
            <a:off x="4892040" y="1993392"/>
            <a:ext cx="3657600" cy="292608"/>
          </a:xfrm>
          <a:prstGeom prst="rect">
            <a:avLst/>
          </a:prstGeom>
          <a:noFill/>
          <a:ln/>
        </p:spPr>
        <p:txBody>
          <a:bodyPr wrap="square" lIns="0" tIns="0" rIns="0" bIns="0" rtlCol="0" anchor="t"/>
          <a:lstStyle/>
          <a:p>
            <a:pPr indent="0" marL="0">
              <a:buNone/>
            </a:pPr>
            <a:r>
              <a:rPr lang="en-US" sz="1600" b="1" dirty="0">
                <a:solidFill>
                  <a:schemeClr val="accent1"/>
                </a:solidFill>
              </a:rPr>
              <a:t>Teacher</a:t>
            </a:r>
            <a:endParaRPr lang="en-US" sz="1600" dirty="0"/>
          </a:p>
        </p:txBody>
      </p:sp>
      <p:sp>
        <p:nvSpPr>
          <p:cNvPr id="10" name="Text 6"/>
          <p:cNvSpPr txBox="1"/>
          <p:nvPr/>
        </p:nvSpPr>
        <p:spPr>
          <a:xfrm>
            <a:off x="4892040" y="2286000"/>
            <a:ext cx="3657600" cy="347472"/>
          </a:xfrm>
          <a:prstGeom prst="rect">
            <a:avLst/>
          </a:prstGeom>
          <a:noFill/>
          <a:ln/>
        </p:spPr>
        <p:txBody>
          <a:bodyPr wrap="square" lIns="0" tIns="0" rIns="0" bIns="0" rtlCol="0" anchor="t"/>
          <a:lstStyle/>
          <a:p>
            <a:pPr indent="0" marL="0">
              <a:buNone/>
            </a:pPr>
            <a:r>
              <a:rPr lang="en-US" sz="1200" dirty="0">
                <a:solidFill>
                  <a:schemeClr val="tx1"/>
                </a:solidFill>
              </a:rPr>
              <a:t>Attendance, scores and remarks, Montessori observations, messages</a:t>
            </a:r>
            <a:endParaRPr lang="en-US" sz="1200" dirty="0"/>
          </a:p>
        </p:txBody>
      </p:sp>
      <p:sp>
        <p:nvSpPr>
          <p:cNvPr id="11" name="role Bursar"/>
          <p:cNvSpPr/>
          <p:nvPr/>
        </p:nvSpPr>
        <p:spPr>
          <a:xfrm>
            <a:off x="4709160" y="2788920"/>
            <a:ext cx="3977640" cy="749808"/>
          </a:xfrm>
          <a:prstGeom prst="roundRect">
            <a:avLst>
              <a:gd name="adj" fmla="val 9756"/>
            </a:avLst>
          </a:prstGeom>
          <a:solidFill>
            <a:schemeClr val="bg2"/>
          </a:solidFill>
          <a:ln w="12700">
            <a:solidFill>
              <a:schemeClr val="bg2"/>
            </a:solidFill>
            <a:prstDash val="solid"/>
          </a:ln>
        </p:spPr>
      </p:sp>
      <p:sp>
        <p:nvSpPr>
          <p:cNvPr id="12" name="Text 8"/>
          <p:cNvSpPr txBox="1"/>
          <p:nvPr/>
        </p:nvSpPr>
        <p:spPr>
          <a:xfrm>
            <a:off x="4892040" y="2862072"/>
            <a:ext cx="3657600" cy="292608"/>
          </a:xfrm>
          <a:prstGeom prst="rect">
            <a:avLst/>
          </a:prstGeom>
          <a:noFill/>
          <a:ln/>
        </p:spPr>
        <p:txBody>
          <a:bodyPr wrap="square" lIns="0" tIns="0" rIns="0" bIns="0" rtlCol="0" anchor="t"/>
          <a:lstStyle/>
          <a:p>
            <a:pPr indent="0" marL="0">
              <a:buNone/>
            </a:pPr>
            <a:r>
              <a:rPr lang="en-US" sz="1600" b="1" dirty="0">
                <a:solidFill>
                  <a:schemeClr val="accent1"/>
                </a:solidFill>
              </a:rPr>
              <a:t>Bursar</a:t>
            </a:r>
            <a:endParaRPr lang="en-US" sz="1600" dirty="0"/>
          </a:p>
        </p:txBody>
      </p:sp>
      <p:sp>
        <p:nvSpPr>
          <p:cNvPr id="13" name="Text 9"/>
          <p:cNvSpPr txBox="1"/>
          <p:nvPr/>
        </p:nvSpPr>
        <p:spPr>
          <a:xfrm>
            <a:off x="4892040" y="3154680"/>
            <a:ext cx="3657600" cy="347472"/>
          </a:xfrm>
          <a:prstGeom prst="rect">
            <a:avLst/>
          </a:prstGeom>
          <a:noFill/>
          <a:ln/>
        </p:spPr>
        <p:txBody>
          <a:bodyPr wrap="square" lIns="0" tIns="0" rIns="0" bIns="0" rtlCol="0" anchor="t"/>
          <a:lstStyle/>
          <a:p>
            <a:pPr indent="0" marL="0">
              <a:buNone/>
            </a:pPr>
            <a:r>
              <a:rPr lang="en-US" sz="1200" dirty="0">
                <a:solidFill>
                  <a:schemeClr val="tx1"/>
                </a:solidFill>
              </a:rPr>
              <a:t>Fee structure, payments and receipts, reminders, fee reports</a:t>
            </a:r>
            <a:endParaRPr lang="en-US" sz="1200" dirty="0"/>
          </a:p>
        </p:txBody>
      </p:sp>
      <p:sp>
        <p:nvSpPr>
          <p:cNvPr id="14" name="role Parent"/>
          <p:cNvSpPr/>
          <p:nvPr/>
        </p:nvSpPr>
        <p:spPr>
          <a:xfrm>
            <a:off x="4709160" y="3657600"/>
            <a:ext cx="3977640" cy="749808"/>
          </a:xfrm>
          <a:prstGeom prst="roundRect">
            <a:avLst>
              <a:gd name="adj" fmla="val 9756"/>
            </a:avLst>
          </a:prstGeom>
          <a:solidFill>
            <a:schemeClr val="bg2"/>
          </a:solidFill>
          <a:ln w="12700">
            <a:solidFill>
              <a:schemeClr val="bg2"/>
            </a:solidFill>
            <a:prstDash val="solid"/>
          </a:ln>
        </p:spPr>
      </p:sp>
      <p:sp>
        <p:nvSpPr>
          <p:cNvPr id="15" name="Text 11"/>
          <p:cNvSpPr txBox="1"/>
          <p:nvPr/>
        </p:nvSpPr>
        <p:spPr>
          <a:xfrm>
            <a:off x="4892040" y="3730752"/>
            <a:ext cx="3657600" cy="292608"/>
          </a:xfrm>
          <a:prstGeom prst="rect">
            <a:avLst/>
          </a:prstGeom>
          <a:noFill/>
          <a:ln/>
        </p:spPr>
        <p:txBody>
          <a:bodyPr wrap="square" lIns="0" tIns="0" rIns="0" bIns="0" rtlCol="0" anchor="t"/>
          <a:lstStyle/>
          <a:p>
            <a:pPr indent="0" marL="0">
              <a:buNone/>
            </a:pPr>
            <a:r>
              <a:rPr lang="en-US" sz="1600" b="1" dirty="0">
                <a:solidFill>
                  <a:schemeClr val="accent1"/>
                </a:solidFill>
              </a:rPr>
              <a:t>Parent</a:t>
            </a:r>
            <a:endParaRPr lang="en-US" sz="1600" dirty="0"/>
          </a:p>
        </p:txBody>
      </p:sp>
      <p:sp>
        <p:nvSpPr>
          <p:cNvPr id="16" name="Text 12"/>
          <p:cNvSpPr txBox="1"/>
          <p:nvPr/>
        </p:nvSpPr>
        <p:spPr>
          <a:xfrm>
            <a:off x="4892040" y="4023360"/>
            <a:ext cx="3657600" cy="347472"/>
          </a:xfrm>
          <a:prstGeom prst="rect">
            <a:avLst/>
          </a:prstGeom>
          <a:noFill/>
          <a:ln/>
        </p:spPr>
        <p:txBody>
          <a:bodyPr wrap="square" lIns="0" tIns="0" rIns="0" bIns="0" rtlCol="0" anchor="t"/>
          <a:lstStyle/>
          <a:p>
            <a:pPr indent="0" marL="0">
              <a:buNone/>
            </a:pPr>
            <a:r>
              <a:rPr lang="en-US" sz="1200" dirty="0">
                <a:solidFill>
                  <a:schemeClr val="tx1"/>
                </a:solidFill>
              </a:rPr>
              <a:t>Their own children: attendance, report cards, fees, messages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What the system does</a:t>
            </a:r>
            <a:endParaRPr lang="en-US" sz="2800" dirty="0"/>
          </a:p>
        </p:txBody>
      </p:sp>
      <p:sp>
        <p:nvSpPr>
          <p:cNvPr id="4" name="feature Pupil records"/>
          <p:cNvSpPr/>
          <p:nvPr/>
        </p:nvSpPr>
        <p:spPr>
          <a:xfrm>
            <a:off x="457200" y="1097280"/>
            <a:ext cx="1920240" cy="1554480"/>
          </a:xfrm>
          <a:prstGeom prst="roundRect">
            <a:avLst>
              <a:gd name="adj" fmla="val 4706"/>
            </a:avLst>
          </a:prstGeom>
          <a:solidFill>
            <a:schemeClr val="bg2"/>
          </a:solidFill>
          <a:ln w="12700">
            <a:solidFill>
              <a:schemeClr val="bg2"/>
            </a:solidFill>
            <a:prstDash val="solid"/>
          </a:ln>
        </p:spPr>
      </p:sp>
      <p:sp>
        <p:nvSpPr>
          <p:cNvPr id="5" name="feature dot 1"/>
          <p:cNvSpPr/>
          <p:nvPr/>
        </p:nvSpPr>
        <p:spPr>
          <a:xfrm>
            <a:off x="640080" y="1280160"/>
            <a:ext cx="384048" cy="384048"/>
          </a:xfrm>
          <a:prstGeom prst="ellipse">
            <a:avLst/>
          </a:prstGeom>
          <a:solidFill>
            <a:schemeClr val="accent1"/>
          </a:solidFill>
          <a:ln w="12700">
            <a:solidFill>
              <a:schemeClr val="accent1"/>
            </a:solidFill>
            <a:prstDash val="solid"/>
          </a:ln>
        </p:spPr>
      </p:sp>
      <p:sp>
        <p:nvSpPr>
          <p:cNvPr id="6" name="Text 3"/>
          <p:cNvSpPr txBox="1"/>
          <p:nvPr/>
        </p:nvSpPr>
        <p:spPr>
          <a:xfrm>
            <a:off x="64008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640080" y="1783080"/>
            <a:ext cx="1645920" cy="365760"/>
          </a:xfrm>
          <a:prstGeom prst="rect">
            <a:avLst/>
          </a:prstGeom>
          <a:noFill/>
          <a:ln/>
        </p:spPr>
        <p:txBody>
          <a:bodyPr wrap="square" lIns="0" tIns="0" rIns="0" bIns="0" rtlCol="0" anchor="t"/>
          <a:lstStyle/>
          <a:p>
            <a:pPr indent="0" marL="0">
              <a:buNone/>
            </a:pPr>
            <a:r>
              <a:rPr lang="en-US" sz="1600" b="1" dirty="0">
                <a:solidFill>
                  <a:schemeClr val="tx2"/>
                </a:solidFill>
              </a:rPr>
              <a:t>Pupil records</a:t>
            </a:r>
            <a:endParaRPr lang="en-US" sz="1600" dirty="0"/>
          </a:p>
        </p:txBody>
      </p:sp>
      <p:sp>
        <p:nvSpPr>
          <p:cNvPr id="8" name="Text 5"/>
          <p:cNvSpPr txBox="1"/>
          <p:nvPr/>
        </p:nvSpPr>
        <p:spPr>
          <a:xfrm>
            <a:off x="640080" y="2121408"/>
            <a:ext cx="1645920" cy="457200"/>
          </a:xfrm>
          <a:prstGeom prst="rect">
            <a:avLst/>
          </a:prstGeom>
          <a:noFill/>
          <a:ln/>
        </p:spPr>
        <p:txBody>
          <a:bodyPr wrap="square" lIns="0" tIns="0" rIns="0" bIns="0" rtlCol="0" anchor="t"/>
          <a:lstStyle/>
          <a:p>
            <a:pPr indent="0" marL="0">
              <a:buNone/>
            </a:pPr>
            <a:r>
              <a:rPr lang="en-US" sz="1200" dirty="0">
                <a:solidFill>
                  <a:schemeClr val="tx1"/>
                </a:solidFill>
              </a:rPr>
              <a:t>Admission, classes, parents</a:t>
            </a:r>
            <a:endParaRPr lang="en-US" sz="1200" dirty="0"/>
          </a:p>
        </p:txBody>
      </p:sp>
      <p:sp>
        <p:nvSpPr>
          <p:cNvPr id="9" name="feature Attendance"/>
          <p:cNvSpPr/>
          <p:nvPr/>
        </p:nvSpPr>
        <p:spPr>
          <a:xfrm>
            <a:off x="2560320" y="1097280"/>
            <a:ext cx="1920240" cy="1554480"/>
          </a:xfrm>
          <a:prstGeom prst="roundRect">
            <a:avLst>
              <a:gd name="adj" fmla="val 4706"/>
            </a:avLst>
          </a:prstGeom>
          <a:solidFill>
            <a:schemeClr val="bg2"/>
          </a:solidFill>
          <a:ln w="12700">
            <a:solidFill>
              <a:schemeClr val="bg2"/>
            </a:solidFill>
            <a:prstDash val="solid"/>
          </a:ln>
        </p:spPr>
      </p:sp>
      <p:sp>
        <p:nvSpPr>
          <p:cNvPr id="10" name="feature dot 2"/>
          <p:cNvSpPr/>
          <p:nvPr/>
        </p:nvSpPr>
        <p:spPr>
          <a:xfrm>
            <a:off x="2743200" y="1280160"/>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274320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9"/>
          <p:cNvSpPr txBox="1"/>
          <p:nvPr/>
        </p:nvSpPr>
        <p:spPr>
          <a:xfrm>
            <a:off x="2743200" y="1783080"/>
            <a:ext cx="1645920" cy="365760"/>
          </a:xfrm>
          <a:prstGeom prst="rect">
            <a:avLst/>
          </a:prstGeom>
          <a:noFill/>
          <a:ln/>
        </p:spPr>
        <p:txBody>
          <a:bodyPr wrap="square" lIns="0" tIns="0" rIns="0" bIns="0" rtlCol="0" anchor="t"/>
          <a:lstStyle/>
          <a:p>
            <a:pPr indent="0" marL="0">
              <a:buNone/>
            </a:pPr>
            <a:r>
              <a:rPr lang="en-US" sz="1600" b="1" dirty="0">
                <a:solidFill>
                  <a:schemeClr val="tx2"/>
                </a:solidFill>
              </a:rPr>
              <a:t>Attendance</a:t>
            </a:r>
            <a:endParaRPr lang="en-US" sz="1600" dirty="0"/>
          </a:p>
        </p:txBody>
      </p:sp>
      <p:sp>
        <p:nvSpPr>
          <p:cNvPr id="13" name="Text 10"/>
          <p:cNvSpPr txBox="1"/>
          <p:nvPr/>
        </p:nvSpPr>
        <p:spPr>
          <a:xfrm>
            <a:off x="2743200" y="2121408"/>
            <a:ext cx="1645920" cy="457200"/>
          </a:xfrm>
          <a:prstGeom prst="rect">
            <a:avLst/>
          </a:prstGeom>
          <a:noFill/>
          <a:ln/>
        </p:spPr>
        <p:txBody>
          <a:bodyPr wrap="square" lIns="0" tIns="0" rIns="0" bIns="0" rtlCol="0" anchor="t"/>
          <a:lstStyle/>
          <a:p>
            <a:pPr indent="0" marL="0">
              <a:buNone/>
            </a:pPr>
            <a:r>
              <a:rPr lang="en-US" sz="1200" dirty="0">
                <a:solidFill>
                  <a:schemeClr val="tx1"/>
                </a:solidFill>
              </a:rPr>
              <a:t>Daily register in a few clicks</a:t>
            </a:r>
            <a:endParaRPr lang="en-US" sz="1200" dirty="0"/>
          </a:p>
        </p:txBody>
      </p:sp>
      <p:sp>
        <p:nvSpPr>
          <p:cNvPr id="14" name="feature Results"/>
          <p:cNvSpPr/>
          <p:nvPr/>
        </p:nvSpPr>
        <p:spPr>
          <a:xfrm>
            <a:off x="4663440" y="1097280"/>
            <a:ext cx="1920240" cy="1554480"/>
          </a:xfrm>
          <a:prstGeom prst="roundRect">
            <a:avLst>
              <a:gd name="adj" fmla="val 4706"/>
            </a:avLst>
          </a:prstGeom>
          <a:solidFill>
            <a:schemeClr val="bg2"/>
          </a:solidFill>
          <a:ln w="12700">
            <a:solidFill>
              <a:schemeClr val="bg2"/>
            </a:solidFill>
            <a:prstDash val="solid"/>
          </a:ln>
        </p:spPr>
      </p:sp>
      <p:sp>
        <p:nvSpPr>
          <p:cNvPr id="15" name="feature dot 3"/>
          <p:cNvSpPr/>
          <p:nvPr/>
        </p:nvSpPr>
        <p:spPr>
          <a:xfrm>
            <a:off x="4846320" y="1280160"/>
            <a:ext cx="384048" cy="384048"/>
          </a:xfrm>
          <a:prstGeom prst="ellipse">
            <a:avLst/>
          </a:prstGeom>
          <a:solidFill>
            <a:schemeClr val="accent1"/>
          </a:solidFill>
          <a:ln w="12700">
            <a:solidFill>
              <a:schemeClr val="accent1"/>
            </a:solidFill>
            <a:prstDash val="solid"/>
          </a:ln>
        </p:spPr>
      </p:sp>
      <p:sp>
        <p:nvSpPr>
          <p:cNvPr id="16" name="Text 13"/>
          <p:cNvSpPr txBox="1"/>
          <p:nvPr/>
        </p:nvSpPr>
        <p:spPr>
          <a:xfrm>
            <a:off x="484632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Text 14"/>
          <p:cNvSpPr txBox="1"/>
          <p:nvPr/>
        </p:nvSpPr>
        <p:spPr>
          <a:xfrm>
            <a:off x="4846320" y="1783080"/>
            <a:ext cx="1645920" cy="365760"/>
          </a:xfrm>
          <a:prstGeom prst="rect">
            <a:avLst/>
          </a:prstGeom>
          <a:noFill/>
          <a:ln/>
        </p:spPr>
        <p:txBody>
          <a:bodyPr wrap="square" lIns="0" tIns="0" rIns="0" bIns="0" rtlCol="0" anchor="t"/>
          <a:lstStyle/>
          <a:p>
            <a:pPr indent="0" marL="0">
              <a:buNone/>
            </a:pPr>
            <a:r>
              <a:rPr lang="en-US" sz="1600" b="1" dirty="0">
                <a:solidFill>
                  <a:schemeClr val="tx2"/>
                </a:solidFill>
              </a:rPr>
              <a:t>Results</a:t>
            </a:r>
            <a:endParaRPr lang="en-US" sz="1600" dirty="0"/>
          </a:p>
        </p:txBody>
      </p:sp>
      <p:sp>
        <p:nvSpPr>
          <p:cNvPr id="18" name="Text 15"/>
          <p:cNvSpPr txBox="1"/>
          <p:nvPr/>
        </p:nvSpPr>
        <p:spPr>
          <a:xfrm>
            <a:off x="4846320" y="2121408"/>
            <a:ext cx="1645920" cy="457200"/>
          </a:xfrm>
          <a:prstGeom prst="rect">
            <a:avLst/>
          </a:prstGeom>
          <a:noFill/>
          <a:ln/>
        </p:spPr>
        <p:txBody>
          <a:bodyPr wrap="square" lIns="0" tIns="0" rIns="0" bIns="0" rtlCol="0" anchor="t"/>
          <a:lstStyle/>
          <a:p>
            <a:pPr indent="0" marL="0">
              <a:buNone/>
            </a:pPr>
            <a:r>
              <a:rPr lang="en-US" sz="1200" dirty="0">
                <a:solidFill>
                  <a:schemeClr val="tx1"/>
                </a:solidFill>
              </a:rPr>
              <a:t>Auto grades, positions, report cards</a:t>
            </a:r>
            <a:endParaRPr lang="en-US" sz="1200" dirty="0"/>
          </a:p>
        </p:txBody>
      </p:sp>
      <p:sp>
        <p:nvSpPr>
          <p:cNvPr id="19" name="feature Fees"/>
          <p:cNvSpPr/>
          <p:nvPr/>
        </p:nvSpPr>
        <p:spPr>
          <a:xfrm>
            <a:off x="6766560" y="1097280"/>
            <a:ext cx="1920240" cy="1554480"/>
          </a:xfrm>
          <a:prstGeom prst="roundRect">
            <a:avLst>
              <a:gd name="adj" fmla="val 4706"/>
            </a:avLst>
          </a:prstGeom>
          <a:solidFill>
            <a:schemeClr val="bg2"/>
          </a:solidFill>
          <a:ln w="12700">
            <a:solidFill>
              <a:schemeClr val="bg2"/>
            </a:solidFill>
            <a:prstDash val="solid"/>
          </a:ln>
        </p:spPr>
      </p:sp>
      <p:sp>
        <p:nvSpPr>
          <p:cNvPr id="20" name="feature dot 4"/>
          <p:cNvSpPr/>
          <p:nvPr/>
        </p:nvSpPr>
        <p:spPr>
          <a:xfrm>
            <a:off x="6949440" y="1280160"/>
            <a:ext cx="384048" cy="384048"/>
          </a:xfrm>
          <a:prstGeom prst="ellipse">
            <a:avLst/>
          </a:prstGeom>
          <a:solidFill>
            <a:schemeClr val="accent1"/>
          </a:solidFill>
          <a:ln w="12700">
            <a:solidFill>
              <a:schemeClr val="accent1"/>
            </a:solidFill>
            <a:prstDash val="solid"/>
          </a:ln>
        </p:spPr>
      </p:sp>
      <p:sp>
        <p:nvSpPr>
          <p:cNvPr id="21" name="Text 18"/>
          <p:cNvSpPr txBox="1"/>
          <p:nvPr/>
        </p:nvSpPr>
        <p:spPr>
          <a:xfrm>
            <a:off x="6949440" y="1280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2" name="Text 19"/>
          <p:cNvSpPr txBox="1"/>
          <p:nvPr/>
        </p:nvSpPr>
        <p:spPr>
          <a:xfrm>
            <a:off x="6949440" y="1783080"/>
            <a:ext cx="1645920" cy="365760"/>
          </a:xfrm>
          <a:prstGeom prst="rect">
            <a:avLst/>
          </a:prstGeom>
          <a:noFill/>
          <a:ln/>
        </p:spPr>
        <p:txBody>
          <a:bodyPr wrap="square" lIns="0" tIns="0" rIns="0" bIns="0" rtlCol="0" anchor="t"/>
          <a:lstStyle/>
          <a:p>
            <a:pPr indent="0" marL="0">
              <a:buNone/>
            </a:pPr>
            <a:r>
              <a:rPr lang="en-US" sz="1600" b="1" dirty="0">
                <a:solidFill>
                  <a:schemeClr val="tx2"/>
                </a:solidFill>
              </a:rPr>
              <a:t>Fees</a:t>
            </a:r>
            <a:endParaRPr lang="en-US" sz="1600" dirty="0"/>
          </a:p>
        </p:txBody>
      </p:sp>
      <p:sp>
        <p:nvSpPr>
          <p:cNvPr id="23" name="Text 20"/>
          <p:cNvSpPr txBox="1"/>
          <p:nvPr/>
        </p:nvSpPr>
        <p:spPr>
          <a:xfrm>
            <a:off x="6949440" y="2121408"/>
            <a:ext cx="1645920" cy="457200"/>
          </a:xfrm>
          <a:prstGeom prst="rect">
            <a:avLst/>
          </a:prstGeom>
          <a:noFill/>
          <a:ln/>
        </p:spPr>
        <p:txBody>
          <a:bodyPr wrap="square" lIns="0" tIns="0" rIns="0" bIns="0" rtlCol="0" anchor="t"/>
          <a:lstStyle/>
          <a:p>
            <a:pPr indent="0" marL="0">
              <a:buNone/>
            </a:pPr>
            <a:r>
              <a:rPr lang="en-US" sz="1200" dirty="0">
                <a:solidFill>
                  <a:schemeClr val="tx1"/>
                </a:solidFill>
              </a:rPr>
              <a:t>Statements, receipts, debtors</a:t>
            </a:r>
            <a:endParaRPr lang="en-US" sz="1200" dirty="0"/>
          </a:p>
        </p:txBody>
      </p:sp>
      <p:sp>
        <p:nvSpPr>
          <p:cNvPr id="24" name="feature Timetable"/>
          <p:cNvSpPr/>
          <p:nvPr/>
        </p:nvSpPr>
        <p:spPr>
          <a:xfrm>
            <a:off x="457200" y="2834640"/>
            <a:ext cx="1920240" cy="1554480"/>
          </a:xfrm>
          <a:prstGeom prst="roundRect">
            <a:avLst>
              <a:gd name="adj" fmla="val 4706"/>
            </a:avLst>
          </a:prstGeom>
          <a:solidFill>
            <a:schemeClr val="bg2"/>
          </a:solidFill>
          <a:ln w="12700">
            <a:solidFill>
              <a:schemeClr val="bg2"/>
            </a:solidFill>
            <a:prstDash val="solid"/>
          </a:ln>
        </p:spPr>
      </p:sp>
      <p:sp>
        <p:nvSpPr>
          <p:cNvPr id="25" name="feature dot 5"/>
          <p:cNvSpPr/>
          <p:nvPr/>
        </p:nvSpPr>
        <p:spPr>
          <a:xfrm>
            <a:off x="640080" y="3017520"/>
            <a:ext cx="384048" cy="384048"/>
          </a:xfrm>
          <a:prstGeom prst="ellipse">
            <a:avLst/>
          </a:prstGeom>
          <a:solidFill>
            <a:schemeClr val="accent1"/>
          </a:solidFill>
          <a:ln w="12700">
            <a:solidFill>
              <a:schemeClr val="accent1"/>
            </a:solidFill>
            <a:prstDash val="solid"/>
          </a:ln>
        </p:spPr>
      </p:sp>
      <p:sp>
        <p:nvSpPr>
          <p:cNvPr id="26" name="Text 23"/>
          <p:cNvSpPr txBox="1"/>
          <p:nvPr/>
        </p:nvSpPr>
        <p:spPr>
          <a:xfrm>
            <a:off x="640080" y="3017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7" name="Text 24"/>
          <p:cNvSpPr txBox="1"/>
          <p:nvPr/>
        </p:nvSpPr>
        <p:spPr>
          <a:xfrm>
            <a:off x="640080" y="3520440"/>
            <a:ext cx="1645920" cy="365760"/>
          </a:xfrm>
          <a:prstGeom prst="rect">
            <a:avLst/>
          </a:prstGeom>
          <a:noFill/>
          <a:ln/>
        </p:spPr>
        <p:txBody>
          <a:bodyPr wrap="square" lIns="0" tIns="0" rIns="0" bIns="0" rtlCol="0" anchor="t"/>
          <a:lstStyle/>
          <a:p>
            <a:pPr indent="0" marL="0">
              <a:buNone/>
            </a:pPr>
            <a:r>
              <a:rPr lang="en-US" sz="1600" b="1" dirty="0">
                <a:solidFill>
                  <a:schemeClr val="tx2"/>
                </a:solidFill>
              </a:rPr>
              <a:t>Timetable</a:t>
            </a:r>
            <a:endParaRPr lang="en-US" sz="1600" dirty="0"/>
          </a:p>
        </p:txBody>
      </p:sp>
      <p:sp>
        <p:nvSpPr>
          <p:cNvPr id="28" name="Text 25"/>
          <p:cNvSpPr txBox="1"/>
          <p:nvPr/>
        </p:nvSpPr>
        <p:spPr>
          <a:xfrm>
            <a:off x="640080" y="3858768"/>
            <a:ext cx="1645920" cy="457200"/>
          </a:xfrm>
          <a:prstGeom prst="rect">
            <a:avLst/>
          </a:prstGeom>
          <a:noFill/>
          <a:ln/>
        </p:spPr>
        <p:txBody>
          <a:bodyPr wrap="square" lIns="0" tIns="0" rIns="0" bIns="0" rtlCol="0" anchor="t"/>
          <a:lstStyle/>
          <a:p>
            <a:pPr indent="0" marL="0">
              <a:buNone/>
            </a:pPr>
            <a:r>
              <a:rPr lang="en-US" sz="1200" dirty="0">
                <a:solidFill>
                  <a:schemeClr val="tx1"/>
                </a:solidFill>
              </a:rPr>
              <a:t>Clash-free periods, school calendar</a:t>
            </a:r>
            <a:endParaRPr lang="en-US" sz="1200" dirty="0"/>
          </a:p>
        </p:txBody>
      </p:sp>
      <p:sp>
        <p:nvSpPr>
          <p:cNvPr id="29" name="feature Communication"/>
          <p:cNvSpPr/>
          <p:nvPr/>
        </p:nvSpPr>
        <p:spPr>
          <a:xfrm>
            <a:off x="2560320" y="2834640"/>
            <a:ext cx="1920240" cy="1554480"/>
          </a:xfrm>
          <a:prstGeom prst="roundRect">
            <a:avLst>
              <a:gd name="adj" fmla="val 4706"/>
            </a:avLst>
          </a:prstGeom>
          <a:solidFill>
            <a:schemeClr val="bg2"/>
          </a:solidFill>
          <a:ln w="12700">
            <a:solidFill>
              <a:schemeClr val="bg2"/>
            </a:solidFill>
            <a:prstDash val="solid"/>
          </a:ln>
        </p:spPr>
      </p:sp>
      <p:sp>
        <p:nvSpPr>
          <p:cNvPr id="30" name="feature dot 6"/>
          <p:cNvSpPr/>
          <p:nvPr/>
        </p:nvSpPr>
        <p:spPr>
          <a:xfrm>
            <a:off x="2743200" y="3017520"/>
            <a:ext cx="384048" cy="384048"/>
          </a:xfrm>
          <a:prstGeom prst="ellipse">
            <a:avLst/>
          </a:prstGeom>
          <a:solidFill>
            <a:schemeClr val="accent1"/>
          </a:solidFill>
          <a:ln w="12700">
            <a:solidFill>
              <a:schemeClr val="accent1"/>
            </a:solidFill>
            <a:prstDash val="solid"/>
          </a:ln>
        </p:spPr>
      </p:sp>
      <p:sp>
        <p:nvSpPr>
          <p:cNvPr id="31" name="Text 28"/>
          <p:cNvSpPr txBox="1"/>
          <p:nvPr/>
        </p:nvSpPr>
        <p:spPr>
          <a:xfrm>
            <a:off x="2743200" y="3017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32" name="Text 29"/>
          <p:cNvSpPr txBox="1"/>
          <p:nvPr/>
        </p:nvSpPr>
        <p:spPr>
          <a:xfrm>
            <a:off x="2743200" y="3520440"/>
            <a:ext cx="1645920" cy="365760"/>
          </a:xfrm>
          <a:prstGeom prst="rect">
            <a:avLst/>
          </a:prstGeom>
          <a:noFill/>
          <a:ln/>
        </p:spPr>
        <p:txBody>
          <a:bodyPr wrap="square" lIns="0" tIns="0" rIns="0" bIns="0" rtlCol="0" anchor="t"/>
          <a:lstStyle/>
          <a:p>
            <a:pPr indent="0" marL="0">
              <a:buNone/>
            </a:pPr>
            <a:r>
              <a:rPr lang="en-US" sz="1600" b="1" dirty="0">
                <a:solidFill>
                  <a:schemeClr val="tx2"/>
                </a:solidFill>
              </a:rPr>
              <a:t>Communication</a:t>
            </a:r>
            <a:endParaRPr lang="en-US" sz="1600" dirty="0"/>
          </a:p>
        </p:txBody>
      </p:sp>
      <p:sp>
        <p:nvSpPr>
          <p:cNvPr id="33" name="Text 30"/>
          <p:cNvSpPr txBox="1"/>
          <p:nvPr/>
        </p:nvSpPr>
        <p:spPr>
          <a:xfrm>
            <a:off x="2743200" y="3858768"/>
            <a:ext cx="1645920" cy="457200"/>
          </a:xfrm>
          <a:prstGeom prst="rect">
            <a:avLst/>
          </a:prstGeom>
          <a:noFill/>
          <a:ln/>
        </p:spPr>
        <p:txBody>
          <a:bodyPr wrap="square" lIns="0" tIns="0" rIns="0" bIns="0" rtlCol="0" anchor="t"/>
          <a:lstStyle/>
          <a:p>
            <a:pPr indent="0" marL="0">
              <a:buNone/>
            </a:pPr>
            <a:r>
              <a:rPr lang="en-US" sz="1200" dirty="0">
                <a:solidFill>
                  <a:schemeClr val="tx1"/>
                </a:solidFill>
              </a:rPr>
              <a:t>Messages, notices, email alerts</a:t>
            </a:r>
            <a:endParaRPr lang="en-US" sz="1200" dirty="0"/>
          </a:p>
        </p:txBody>
      </p:sp>
      <p:sp>
        <p:nvSpPr>
          <p:cNvPr id="34" name="feature Reports"/>
          <p:cNvSpPr/>
          <p:nvPr/>
        </p:nvSpPr>
        <p:spPr>
          <a:xfrm>
            <a:off x="4663440" y="2834640"/>
            <a:ext cx="1920240" cy="1554480"/>
          </a:xfrm>
          <a:prstGeom prst="roundRect">
            <a:avLst>
              <a:gd name="adj" fmla="val 4706"/>
            </a:avLst>
          </a:prstGeom>
          <a:solidFill>
            <a:schemeClr val="bg2"/>
          </a:solidFill>
          <a:ln w="12700">
            <a:solidFill>
              <a:schemeClr val="bg2"/>
            </a:solidFill>
            <a:prstDash val="solid"/>
          </a:ln>
        </p:spPr>
      </p:sp>
      <p:sp>
        <p:nvSpPr>
          <p:cNvPr id="35" name="feature dot 7"/>
          <p:cNvSpPr/>
          <p:nvPr/>
        </p:nvSpPr>
        <p:spPr>
          <a:xfrm>
            <a:off x="4846320" y="3017520"/>
            <a:ext cx="384048" cy="384048"/>
          </a:xfrm>
          <a:prstGeom prst="ellipse">
            <a:avLst/>
          </a:prstGeom>
          <a:solidFill>
            <a:schemeClr val="accent1"/>
          </a:solidFill>
          <a:ln w="12700">
            <a:solidFill>
              <a:schemeClr val="accent1"/>
            </a:solidFill>
            <a:prstDash val="solid"/>
          </a:ln>
        </p:spPr>
      </p:sp>
      <p:sp>
        <p:nvSpPr>
          <p:cNvPr id="36" name="Text 33"/>
          <p:cNvSpPr txBox="1"/>
          <p:nvPr/>
        </p:nvSpPr>
        <p:spPr>
          <a:xfrm>
            <a:off x="4846320" y="3017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37" name="Text 34"/>
          <p:cNvSpPr txBox="1"/>
          <p:nvPr/>
        </p:nvSpPr>
        <p:spPr>
          <a:xfrm>
            <a:off x="4846320" y="3520440"/>
            <a:ext cx="1645920" cy="365760"/>
          </a:xfrm>
          <a:prstGeom prst="rect">
            <a:avLst/>
          </a:prstGeom>
          <a:noFill/>
          <a:ln/>
        </p:spPr>
        <p:txBody>
          <a:bodyPr wrap="square" lIns="0" tIns="0" rIns="0" bIns="0" rtlCol="0" anchor="t"/>
          <a:lstStyle/>
          <a:p>
            <a:pPr indent="0" marL="0">
              <a:buNone/>
            </a:pPr>
            <a:r>
              <a:rPr lang="en-US" sz="1600" b="1" dirty="0">
                <a:solidFill>
                  <a:schemeClr val="tx2"/>
                </a:solidFill>
              </a:rPr>
              <a:t>Reports</a:t>
            </a:r>
            <a:endParaRPr lang="en-US" sz="1600" dirty="0"/>
          </a:p>
        </p:txBody>
      </p:sp>
      <p:sp>
        <p:nvSpPr>
          <p:cNvPr id="38" name="Text 35"/>
          <p:cNvSpPr txBox="1"/>
          <p:nvPr/>
        </p:nvSpPr>
        <p:spPr>
          <a:xfrm>
            <a:off x="4846320" y="3858768"/>
            <a:ext cx="1645920" cy="457200"/>
          </a:xfrm>
          <a:prstGeom prst="rect">
            <a:avLst/>
          </a:prstGeom>
          <a:noFill/>
          <a:ln/>
        </p:spPr>
        <p:txBody>
          <a:bodyPr wrap="square" lIns="0" tIns="0" rIns="0" bIns="0" rtlCol="0" anchor="t"/>
          <a:lstStyle/>
          <a:p>
            <a:pPr indent="0" marL="0">
              <a:buNone/>
            </a:pPr>
            <a:r>
              <a:rPr lang="en-US" sz="1200" dirty="0">
                <a:solidFill>
                  <a:schemeClr val="tx1"/>
                </a:solidFill>
              </a:rPr>
              <a:t>Print or export to Excel</a:t>
            </a:r>
            <a:endParaRPr lang="en-US" sz="1200" dirty="0"/>
          </a:p>
        </p:txBody>
      </p:sp>
      <p:sp>
        <p:nvSpPr>
          <p:cNvPr id="39" name="feature Data backup"/>
          <p:cNvSpPr/>
          <p:nvPr/>
        </p:nvSpPr>
        <p:spPr>
          <a:xfrm>
            <a:off x="6766560" y="2834640"/>
            <a:ext cx="1920240" cy="1554480"/>
          </a:xfrm>
          <a:prstGeom prst="roundRect">
            <a:avLst>
              <a:gd name="adj" fmla="val 4706"/>
            </a:avLst>
          </a:prstGeom>
          <a:solidFill>
            <a:schemeClr val="bg2"/>
          </a:solidFill>
          <a:ln w="12700">
            <a:solidFill>
              <a:schemeClr val="bg2"/>
            </a:solidFill>
            <a:prstDash val="solid"/>
          </a:ln>
        </p:spPr>
      </p:sp>
      <p:sp>
        <p:nvSpPr>
          <p:cNvPr id="40" name="feature dot 8"/>
          <p:cNvSpPr/>
          <p:nvPr/>
        </p:nvSpPr>
        <p:spPr>
          <a:xfrm>
            <a:off x="6949440" y="3017520"/>
            <a:ext cx="384048" cy="384048"/>
          </a:xfrm>
          <a:prstGeom prst="ellipse">
            <a:avLst/>
          </a:prstGeom>
          <a:solidFill>
            <a:schemeClr val="accent1"/>
          </a:solidFill>
          <a:ln w="12700">
            <a:solidFill>
              <a:schemeClr val="accent1"/>
            </a:solidFill>
            <a:prstDash val="solid"/>
          </a:ln>
        </p:spPr>
      </p:sp>
      <p:sp>
        <p:nvSpPr>
          <p:cNvPr id="41" name="Text 38"/>
          <p:cNvSpPr txBox="1"/>
          <p:nvPr/>
        </p:nvSpPr>
        <p:spPr>
          <a:xfrm>
            <a:off x="6949440" y="30175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42" name="Text 39"/>
          <p:cNvSpPr txBox="1"/>
          <p:nvPr/>
        </p:nvSpPr>
        <p:spPr>
          <a:xfrm>
            <a:off x="6949440" y="3520440"/>
            <a:ext cx="1645920" cy="365760"/>
          </a:xfrm>
          <a:prstGeom prst="rect">
            <a:avLst/>
          </a:prstGeom>
          <a:noFill/>
          <a:ln/>
        </p:spPr>
        <p:txBody>
          <a:bodyPr wrap="square" lIns="0" tIns="0" rIns="0" bIns="0" rtlCol="0" anchor="t"/>
          <a:lstStyle/>
          <a:p>
            <a:pPr indent="0" marL="0">
              <a:buNone/>
            </a:pPr>
            <a:r>
              <a:rPr lang="en-US" sz="1600" b="1" dirty="0">
                <a:solidFill>
                  <a:schemeClr val="tx2"/>
                </a:solidFill>
              </a:rPr>
              <a:t>Data backup</a:t>
            </a:r>
            <a:endParaRPr lang="en-US" sz="1600" dirty="0"/>
          </a:p>
        </p:txBody>
      </p:sp>
      <p:sp>
        <p:nvSpPr>
          <p:cNvPr id="43" name="Text 40"/>
          <p:cNvSpPr txBox="1"/>
          <p:nvPr/>
        </p:nvSpPr>
        <p:spPr>
          <a:xfrm>
            <a:off x="6949440" y="3858768"/>
            <a:ext cx="1645920" cy="457200"/>
          </a:xfrm>
          <a:prstGeom prst="rect">
            <a:avLst/>
          </a:prstGeom>
          <a:noFill/>
          <a:ln/>
        </p:spPr>
        <p:txBody>
          <a:bodyPr wrap="square" lIns="0" tIns="0" rIns="0" bIns="0" rtlCol="0" anchor="t"/>
          <a:lstStyle/>
          <a:p>
            <a:pPr indent="0" marL="0">
              <a:buNone/>
            </a:pPr>
            <a:r>
              <a:rPr lang="en-US" sz="1200" dirty="0">
                <a:solidFill>
                  <a:schemeClr val="tx1"/>
                </a:solidFill>
              </a:rPr>
              <a:t>Daily, with safe restore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Everything at a glance</a:t>
            </a:r>
            <a:endParaRPr lang="en-US" sz="2800" dirty="0"/>
          </a:p>
        </p:txBody>
      </p:sp>
      <p:sp>
        <p:nvSpPr>
          <p:cNvPr id="4" name="admin dashboard screenshot frame"/>
          <p:cNvSpPr/>
          <p:nvPr/>
        </p:nvSpPr>
        <p:spPr>
          <a:xfrm>
            <a:off x="475488" y="1069848"/>
            <a:ext cx="5449824" cy="3426714"/>
          </a:xfrm>
          <a:prstGeom prst="rect">
            <a:avLst/>
          </a:prstGeom>
          <a:solidFill>
            <a:schemeClr val="bg1"/>
          </a:solidFill>
          <a:ln w="12700">
            <a:solidFill>
              <a:srgbClr val="C9D6E3"/>
            </a:solidFill>
            <a:prstDash val="solid"/>
          </a:ln>
          <a:effectLst>
            <a:outerShdw sx="100000" sy="100000" kx="0" ky="0" algn="bl" rotWithShape="0" blurRad="76200" dist="25400" dir="5400000">
              <a:srgbClr val="8A99A8">
                <a:alpha val="25000"/>
              </a:srgbClr>
            </a:outerShdw>
          </a:effectLst>
        </p:spPr>
      </p:sp>
      <p:pic>
        <p:nvPicPr>
          <p:cNvPr id="5" name="admin dashboard screenshot" descr="admin dashboard screenshot">    </p:cNvPr>
          <p:cNvPicPr>
            <a:picLocks noChangeAspect="1"/>
          </p:cNvPicPr>
          <p:nvPr/>
        </p:nvPicPr>
        <p:blipFill>
          <a:blip r:embed="rId1"/>
          <a:stretch>
            <a:fillRect/>
          </a:stretch>
        </p:blipFill>
        <p:spPr>
          <a:xfrm>
            <a:off x="502920" y="1097280"/>
            <a:ext cx="5394960" cy="3371850"/>
          </a:xfrm>
          <a:prstGeom prst="rect">
            <a:avLst/>
          </a:prstGeom>
        </p:spPr>
      </p:pic>
      <p:sp>
        <p:nvSpPr>
          <p:cNvPr id="6" name="badge 1"/>
          <p:cNvSpPr/>
          <p:nvPr/>
        </p:nvSpPr>
        <p:spPr>
          <a:xfrm>
            <a:off x="6263640" y="1188720"/>
            <a:ext cx="384048" cy="384048"/>
          </a:xfrm>
          <a:prstGeom prst="ellipse">
            <a:avLst/>
          </a:prstGeom>
          <a:solidFill>
            <a:schemeClr val="accent2"/>
          </a:solidFill>
          <a:ln w="12700">
            <a:solidFill>
              <a:schemeClr val="accent2"/>
            </a:solidFill>
            <a:prstDash val="solid"/>
          </a:ln>
        </p:spPr>
      </p:sp>
      <p:sp>
        <p:nvSpPr>
          <p:cNvPr id="7" name="Text 3"/>
          <p:cNvSpPr txBox="1"/>
          <p:nvPr/>
        </p:nvSpPr>
        <p:spPr>
          <a:xfrm>
            <a:off x="6263640" y="118872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8" name="Text 4"/>
          <p:cNvSpPr txBox="1"/>
          <p:nvPr/>
        </p:nvSpPr>
        <p:spPr>
          <a:xfrm>
            <a:off x="6766560" y="1170432"/>
            <a:ext cx="1920240" cy="320040"/>
          </a:xfrm>
          <a:prstGeom prst="rect">
            <a:avLst/>
          </a:prstGeom>
          <a:noFill/>
          <a:ln/>
        </p:spPr>
        <p:txBody>
          <a:bodyPr wrap="square" lIns="0" tIns="0" rIns="0" bIns="0" rtlCol="0" anchor="t"/>
          <a:lstStyle/>
          <a:p>
            <a:pPr indent="0" marL="0">
              <a:buNone/>
            </a:pPr>
            <a:r>
              <a:rPr lang="en-US" sz="1600" b="1" dirty="0">
                <a:solidFill>
                  <a:schemeClr val="tx2"/>
                </a:solidFill>
              </a:rPr>
              <a:t>Live numbers</a:t>
            </a:r>
            <a:endParaRPr lang="en-US" sz="1600" dirty="0"/>
          </a:p>
        </p:txBody>
      </p:sp>
      <p:sp>
        <p:nvSpPr>
          <p:cNvPr id="9" name="Text 5"/>
          <p:cNvSpPr txBox="1"/>
          <p:nvPr/>
        </p:nvSpPr>
        <p:spPr>
          <a:xfrm>
            <a:off x="6766560" y="1517904"/>
            <a:ext cx="1920240" cy="548640"/>
          </a:xfrm>
          <a:prstGeom prst="rect">
            <a:avLst/>
          </a:prstGeom>
          <a:noFill/>
          <a:ln/>
        </p:spPr>
        <p:txBody>
          <a:bodyPr wrap="square" lIns="0" tIns="0" rIns="0" bIns="0" rtlCol="0" anchor="t"/>
          <a:lstStyle/>
          <a:p>
            <a:pPr indent="0" marL="0">
              <a:buNone/>
            </a:pPr>
            <a:r>
              <a:rPr lang="en-US" sz="1300" dirty="0">
                <a:solidFill>
                  <a:schemeClr val="tx1"/>
                </a:solidFill>
              </a:rPr>
              <a:t>Pupils, staff, attendance and fees</a:t>
            </a:r>
            <a:endParaRPr lang="en-US" sz="1300" dirty="0"/>
          </a:p>
        </p:txBody>
      </p:sp>
      <p:sp>
        <p:nvSpPr>
          <p:cNvPr id="10" name="badge 2"/>
          <p:cNvSpPr/>
          <p:nvPr/>
        </p:nvSpPr>
        <p:spPr>
          <a:xfrm>
            <a:off x="6263640" y="2286000"/>
            <a:ext cx="384048" cy="384048"/>
          </a:xfrm>
          <a:prstGeom prst="ellipse">
            <a:avLst/>
          </a:prstGeom>
          <a:solidFill>
            <a:schemeClr val="accent2"/>
          </a:solidFill>
          <a:ln w="12700">
            <a:solidFill>
              <a:schemeClr val="accent2"/>
            </a:solidFill>
            <a:prstDash val="solid"/>
          </a:ln>
        </p:spPr>
      </p:sp>
      <p:sp>
        <p:nvSpPr>
          <p:cNvPr id="11" name="Text 7"/>
          <p:cNvSpPr txBox="1"/>
          <p:nvPr/>
        </p:nvSpPr>
        <p:spPr>
          <a:xfrm>
            <a:off x="6263640" y="228600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2" name="Text 8"/>
          <p:cNvSpPr txBox="1"/>
          <p:nvPr/>
        </p:nvSpPr>
        <p:spPr>
          <a:xfrm>
            <a:off x="6766560" y="2267712"/>
            <a:ext cx="1920240" cy="320040"/>
          </a:xfrm>
          <a:prstGeom prst="rect">
            <a:avLst/>
          </a:prstGeom>
          <a:noFill/>
          <a:ln/>
        </p:spPr>
        <p:txBody>
          <a:bodyPr wrap="square" lIns="0" tIns="0" rIns="0" bIns="0" rtlCol="0" anchor="t"/>
          <a:lstStyle/>
          <a:p>
            <a:pPr indent="0" marL="0">
              <a:buNone/>
            </a:pPr>
            <a:r>
              <a:rPr lang="en-US" sz="1600" b="1" dirty="0">
                <a:solidFill>
                  <a:schemeClr val="tx2"/>
                </a:solidFill>
              </a:rPr>
              <a:t>What is coming up</a:t>
            </a:r>
            <a:endParaRPr lang="en-US" sz="1600" dirty="0"/>
          </a:p>
        </p:txBody>
      </p:sp>
      <p:sp>
        <p:nvSpPr>
          <p:cNvPr id="13" name="Text 9"/>
          <p:cNvSpPr txBox="1"/>
          <p:nvPr/>
        </p:nvSpPr>
        <p:spPr>
          <a:xfrm>
            <a:off x="6766560" y="2615184"/>
            <a:ext cx="1920240" cy="548640"/>
          </a:xfrm>
          <a:prstGeom prst="rect">
            <a:avLst/>
          </a:prstGeom>
          <a:noFill/>
          <a:ln/>
        </p:spPr>
        <p:txBody>
          <a:bodyPr wrap="square" lIns="0" tIns="0" rIns="0" bIns="0" rtlCol="0" anchor="t"/>
          <a:lstStyle/>
          <a:p>
            <a:pPr indent="0" marL="0">
              <a:buNone/>
            </a:pPr>
            <a:r>
              <a:rPr lang="en-US" sz="1300" dirty="0">
                <a:solidFill>
                  <a:schemeClr val="tx1"/>
                </a:solidFill>
              </a:rPr>
              <a:t>Events and announcements</a:t>
            </a:r>
            <a:endParaRPr lang="en-US" sz="1300" dirty="0"/>
          </a:p>
        </p:txBody>
      </p:sp>
      <p:sp>
        <p:nvSpPr>
          <p:cNvPr id="14" name="badge 3"/>
          <p:cNvSpPr/>
          <p:nvPr/>
        </p:nvSpPr>
        <p:spPr>
          <a:xfrm>
            <a:off x="6263640" y="3383280"/>
            <a:ext cx="384048" cy="384048"/>
          </a:xfrm>
          <a:prstGeom prst="ellipse">
            <a:avLst/>
          </a:prstGeom>
          <a:solidFill>
            <a:schemeClr val="accent2"/>
          </a:solidFill>
          <a:ln w="12700">
            <a:solidFill>
              <a:schemeClr val="accent2"/>
            </a:solidFill>
            <a:prstDash val="solid"/>
          </a:ln>
        </p:spPr>
      </p:sp>
      <p:sp>
        <p:nvSpPr>
          <p:cNvPr id="15" name="Text 11"/>
          <p:cNvSpPr txBox="1"/>
          <p:nvPr/>
        </p:nvSpPr>
        <p:spPr>
          <a:xfrm>
            <a:off x="6263640" y="3383280"/>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6" name="Text 12"/>
          <p:cNvSpPr txBox="1"/>
          <p:nvPr/>
        </p:nvSpPr>
        <p:spPr>
          <a:xfrm>
            <a:off x="6766560" y="3364992"/>
            <a:ext cx="1920240" cy="320040"/>
          </a:xfrm>
          <a:prstGeom prst="rect">
            <a:avLst/>
          </a:prstGeom>
          <a:noFill/>
          <a:ln/>
        </p:spPr>
        <p:txBody>
          <a:bodyPr wrap="square" lIns="0" tIns="0" rIns="0" bIns="0" rtlCol="0" anchor="t"/>
          <a:lstStyle/>
          <a:p>
            <a:pPr indent="0" marL="0">
              <a:buNone/>
            </a:pPr>
            <a:r>
              <a:rPr lang="en-US" sz="1600" b="1" dirty="0">
                <a:solidFill>
                  <a:schemeClr val="tx2"/>
                </a:solidFill>
              </a:rPr>
              <a:t>Who did what</a:t>
            </a:r>
            <a:endParaRPr lang="en-US" sz="1600" dirty="0"/>
          </a:p>
        </p:txBody>
      </p:sp>
      <p:sp>
        <p:nvSpPr>
          <p:cNvPr id="17" name="Text 13"/>
          <p:cNvSpPr txBox="1"/>
          <p:nvPr/>
        </p:nvSpPr>
        <p:spPr>
          <a:xfrm>
            <a:off x="6766560" y="3712464"/>
            <a:ext cx="1920240" cy="548640"/>
          </a:xfrm>
          <a:prstGeom prst="rect">
            <a:avLst/>
          </a:prstGeom>
          <a:noFill/>
          <a:ln/>
        </p:spPr>
        <p:txBody>
          <a:bodyPr wrap="square" lIns="0" tIns="0" rIns="0" bIns="0" rtlCol="0" anchor="t"/>
          <a:lstStyle/>
          <a:p>
            <a:pPr indent="0" marL="0">
              <a:buNone/>
            </a:pPr>
            <a:r>
              <a:rPr lang="en-US" sz="1300" dirty="0">
                <a:solidFill>
                  <a:schemeClr val="tx1"/>
                </a:solidFill>
              </a:rPr>
              <a:t>Every key action is logged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Results without the arithmetic</a:t>
            </a:r>
            <a:endParaRPr lang="en-US" sz="2800" dirty="0"/>
          </a:p>
        </p:txBody>
      </p:sp>
      <p:sp>
        <p:nvSpPr>
          <p:cNvPr id="4" name="score entry screenshot frame"/>
          <p:cNvSpPr/>
          <p:nvPr/>
        </p:nvSpPr>
        <p:spPr>
          <a:xfrm>
            <a:off x="475488" y="1115568"/>
            <a:ext cx="4032504" cy="2540889"/>
          </a:xfrm>
          <a:prstGeom prst="rect">
            <a:avLst/>
          </a:prstGeom>
          <a:solidFill>
            <a:schemeClr val="bg1"/>
          </a:solidFill>
          <a:ln w="12700">
            <a:solidFill>
              <a:srgbClr val="C9D6E3"/>
            </a:solidFill>
            <a:prstDash val="solid"/>
          </a:ln>
          <a:effectLst>
            <a:outerShdw sx="100000" sy="100000" kx="0" ky="0" algn="bl" rotWithShape="0" blurRad="76200" dist="25400" dir="5400000">
              <a:srgbClr val="8A99A8">
                <a:alpha val="25000"/>
              </a:srgbClr>
            </a:outerShdw>
          </a:effectLst>
        </p:spPr>
      </p:sp>
      <p:pic>
        <p:nvPicPr>
          <p:cNvPr id="5" name="score entry screenshot" descr="score entry screenshot">    </p:cNvPr>
          <p:cNvPicPr>
            <a:picLocks noChangeAspect="1"/>
          </p:cNvPicPr>
          <p:nvPr/>
        </p:nvPicPr>
        <p:blipFill>
          <a:blip r:embed="rId1"/>
          <a:stretch>
            <a:fillRect/>
          </a:stretch>
        </p:blipFill>
        <p:spPr>
          <a:xfrm>
            <a:off x="502920" y="1143000"/>
            <a:ext cx="3977640" cy="2486025"/>
          </a:xfrm>
          <a:prstGeom prst="rect">
            <a:avLst/>
          </a:prstGeom>
        </p:spPr>
      </p:pic>
      <p:sp>
        <p:nvSpPr>
          <p:cNvPr id="6" name="report card screenshot frame"/>
          <p:cNvSpPr/>
          <p:nvPr/>
        </p:nvSpPr>
        <p:spPr>
          <a:xfrm>
            <a:off x="4636008" y="1115568"/>
            <a:ext cx="4032504" cy="2540889"/>
          </a:xfrm>
          <a:prstGeom prst="rect">
            <a:avLst/>
          </a:prstGeom>
          <a:solidFill>
            <a:schemeClr val="bg1"/>
          </a:solidFill>
          <a:ln w="12700">
            <a:solidFill>
              <a:srgbClr val="C9D6E3"/>
            </a:solidFill>
            <a:prstDash val="solid"/>
          </a:ln>
          <a:effectLst>
            <a:outerShdw sx="100000" sy="100000" kx="0" ky="0" algn="bl" rotWithShape="0" blurRad="76200" dist="25400" dir="5400000">
              <a:srgbClr val="8A99A8">
                <a:alpha val="25000"/>
              </a:srgbClr>
            </a:outerShdw>
          </a:effectLst>
        </p:spPr>
      </p:sp>
      <p:pic>
        <p:nvPicPr>
          <p:cNvPr id="7" name="report card screenshot" descr="report card screenshot">    </p:cNvPr>
          <p:cNvPicPr>
            <a:picLocks noChangeAspect="1"/>
          </p:cNvPicPr>
          <p:nvPr/>
        </p:nvPicPr>
        <p:blipFill>
          <a:blip r:embed="rId2"/>
          <a:stretch>
            <a:fillRect/>
          </a:stretch>
        </p:blipFill>
        <p:spPr>
          <a:xfrm>
            <a:off x="4663440" y="1143000"/>
            <a:ext cx="3977640" cy="2486025"/>
          </a:xfrm>
          <a:prstGeom prst="rect">
            <a:avLst/>
          </a:prstGeom>
        </p:spPr>
      </p:pic>
      <p:sp>
        <p:nvSpPr>
          <p:cNvPr id="8" name="Text 3"/>
          <p:cNvSpPr txBox="1"/>
          <p:nvPr/>
        </p:nvSpPr>
        <p:spPr>
          <a:xfrm>
            <a:off x="502920" y="3767328"/>
            <a:ext cx="3977640" cy="274320"/>
          </a:xfrm>
          <a:prstGeom prst="rect">
            <a:avLst/>
          </a:prstGeom>
          <a:noFill/>
          <a:ln/>
        </p:spPr>
        <p:txBody>
          <a:bodyPr wrap="square" lIns="0" tIns="0" rIns="0" bIns="0" rtlCol="0" anchor="t"/>
          <a:lstStyle/>
          <a:p>
            <a:pPr algn="ctr" indent="0" marL="0">
              <a:buNone/>
            </a:pPr>
            <a:r>
              <a:rPr lang="en-US" sz="1200" dirty="0">
                <a:solidFill>
                  <a:schemeClr val="accent6"/>
                </a:solidFill>
              </a:rPr>
              <a:t>Teacher enters CA and exam scores</a:t>
            </a:r>
            <a:endParaRPr lang="en-US" sz="1200" dirty="0"/>
          </a:p>
        </p:txBody>
      </p:sp>
      <p:sp>
        <p:nvSpPr>
          <p:cNvPr id="9" name="Text 4"/>
          <p:cNvSpPr txBox="1"/>
          <p:nvPr/>
        </p:nvSpPr>
        <p:spPr>
          <a:xfrm>
            <a:off x="4663440" y="3767328"/>
            <a:ext cx="3977640" cy="274320"/>
          </a:xfrm>
          <a:prstGeom prst="rect">
            <a:avLst/>
          </a:prstGeom>
          <a:noFill/>
          <a:ln/>
        </p:spPr>
        <p:txBody>
          <a:bodyPr wrap="square" lIns="0" tIns="0" rIns="0" bIns="0" rtlCol="0" anchor="t"/>
          <a:lstStyle/>
          <a:p>
            <a:pPr algn="ctr" indent="0" marL="0">
              <a:buNone/>
            </a:pPr>
            <a:r>
              <a:rPr lang="en-US" sz="1200" dirty="0">
                <a:solidFill>
                  <a:schemeClr val="accent6"/>
                </a:solidFill>
              </a:rPr>
              <a:t>Printable report card with grades and position</a:t>
            </a:r>
            <a:endParaRPr lang="en-US" sz="1200" dirty="0"/>
          </a:p>
        </p:txBody>
      </p:sp>
      <p:sp>
        <p:nvSpPr>
          <p:cNvPr id="10" name="Text 5"/>
          <p:cNvSpPr txBox="1"/>
          <p:nvPr/>
        </p:nvSpPr>
        <p:spPr>
          <a:xfrm>
            <a:off x="502920" y="4160520"/>
            <a:ext cx="8138160" cy="365760"/>
          </a:xfrm>
          <a:prstGeom prst="rect">
            <a:avLst/>
          </a:prstGeom>
          <a:noFill/>
          <a:ln/>
        </p:spPr>
        <p:txBody>
          <a:bodyPr wrap="square" lIns="0" tIns="0" rIns="0" bIns="0" rtlCol="0" anchor="t"/>
          <a:lstStyle/>
          <a:p>
            <a:pPr algn="ctr" indent="0" marL="0">
              <a:buNone/>
            </a:pPr>
            <a:r>
              <a:rPr lang="en-US" sz="1600" b="1" dirty="0">
                <a:solidFill>
                  <a:schemeClr val="accent1"/>
                </a:solidFill>
              </a:rPr>
              <a:t>Totals, grades, averages and class positions are calculated automatically.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Fees and communication</a:t>
            </a:r>
            <a:endParaRPr lang="en-US" sz="2800" dirty="0"/>
          </a:p>
        </p:txBody>
      </p:sp>
      <p:sp>
        <p:nvSpPr>
          <p:cNvPr id="4" name="fee statement screenshot frame"/>
          <p:cNvSpPr/>
          <p:nvPr/>
        </p:nvSpPr>
        <p:spPr>
          <a:xfrm>
            <a:off x="475488" y="1115568"/>
            <a:ext cx="4032504" cy="2540889"/>
          </a:xfrm>
          <a:prstGeom prst="rect">
            <a:avLst/>
          </a:prstGeom>
          <a:solidFill>
            <a:schemeClr val="bg1"/>
          </a:solidFill>
          <a:ln w="12700">
            <a:solidFill>
              <a:srgbClr val="C9D6E3"/>
            </a:solidFill>
            <a:prstDash val="solid"/>
          </a:ln>
          <a:effectLst>
            <a:outerShdw sx="100000" sy="100000" kx="0" ky="0" algn="bl" rotWithShape="0" blurRad="76200" dist="25400" dir="5400000">
              <a:srgbClr val="8A99A8">
                <a:alpha val="25000"/>
              </a:srgbClr>
            </a:outerShdw>
          </a:effectLst>
        </p:spPr>
      </p:sp>
      <p:pic>
        <p:nvPicPr>
          <p:cNvPr id="5" name="fee statement screenshot" descr="fee statement screenshot">    </p:cNvPr>
          <p:cNvPicPr>
            <a:picLocks noChangeAspect="1"/>
          </p:cNvPicPr>
          <p:nvPr/>
        </p:nvPicPr>
        <p:blipFill>
          <a:blip r:embed="rId1"/>
          <a:stretch>
            <a:fillRect/>
          </a:stretch>
        </p:blipFill>
        <p:spPr>
          <a:xfrm>
            <a:off x="502920" y="1143000"/>
            <a:ext cx="3977640" cy="2486025"/>
          </a:xfrm>
          <a:prstGeom prst="rect">
            <a:avLst/>
          </a:prstGeom>
        </p:spPr>
      </p:pic>
      <p:sp>
        <p:nvSpPr>
          <p:cNvPr id="6" name="messages screenshot frame"/>
          <p:cNvSpPr/>
          <p:nvPr/>
        </p:nvSpPr>
        <p:spPr>
          <a:xfrm>
            <a:off x="4636008" y="1115568"/>
            <a:ext cx="4032504" cy="2540889"/>
          </a:xfrm>
          <a:prstGeom prst="rect">
            <a:avLst/>
          </a:prstGeom>
          <a:solidFill>
            <a:schemeClr val="bg1"/>
          </a:solidFill>
          <a:ln w="12700">
            <a:solidFill>
              <a:srgbClr val="C9D6E3"/>
            </a:solidFill>
            <a:prstDash val="solid"/>
          </a:ln>
          <a:effectLst>
            <a:outerShdw sx="100000" sy="100000" kx="0" ky="0" algn="bl" rotWithShape="0" blurRad="76200" dist="25400" dir="5400000">
              <a:srgbClr val="8A99A8">
                <a:alpha val="25000"/>
              </a:srgbClr>
            </a:outerShdw>
          </a:effectLst>
        </p:spPr>
      </p:sp>
      <p:pic>
        <p:nvPicPr>
          <p:cNvPr id="7" name="messages screenshot" descr="messages screenshot">    </p:cNvPr>
          <p:cNvPicPr>
            <a:picLocks noChangeAspect="1"/>
          </p:cNvPicPr>
          <p:nvPr/>
        </p:nvPicPr>
        <p:blipFill>
          <a:blip r:embed="rId2"/>
          <a:stretch>
            <a:fillRect/>
          </a:stretch>
        </p:blipFill>
        <p:spPr>
          <a:xfrm>
            <a:off x="4663440" y="1143000"/>
            <a:ext cx="3977640" cy="2486025"/>
          </a:xfrm>
          <a:prstGeom prst="rect">
            <a:avLst/>
          </a:prstGeom>
        </p:spPr>
      </p:pic>
      <p:sp>
        <p:nvSpPr>
          <p:cNvPr id="8" name="Text 3"/>
          <p:cNvSpPr txBox="1"/>
          <p:nvPr/>
        </p:nvSpPr>
        <p:spPr>
          <a:xfrm>
            <a:off x="502920" y="3767328"/>
            <a:ext cx="3977640" cy="274320"/>
          </a:xfrm>
          <a:prstGeom prst="rect">
            <a:avLst/>
          </a:prstGeom>
          <a:noFill/>
          <a:ln/>
        </p:spPr>
        <p:txBody>
          <a:bodyPr wrap="square" lIns="0" tIns="0" rIns="0" bIns="0" rtlCol="0" anchor="t"/>
          <a:lstStyle/>
          <a:p>
            <a:pPr algn="ctr" indent="0" marL="0">
              <a:buNone/>
            </a:pPr>
            <a:r>
              <a:rPr lang="en-US" sz="1200" dirty="0">
                <a:solidFill>
                  <a:schemeClr val="accent6"/>
                </a:solidFill>
              </a:rPr>
              <a:t>Fee statement with the balance owed</a:t>
            </a:r>
            <a:endParaRPr lang="en-US" sz="1200" dirty="0"/>
          </a:p>
        </p:txBody>
      </p:sp>
      <p:sp>
        <p:nvSpPr>
          <p:cNvPr id="9" name="Text 4"/>
          <p:cNvSpPr txBox="1"/>
          <p:nvPr/>
        </p:nvSpPr>
        <p:spPr>
          <a:xfrm>
            <a:off x="4663440" y="3767328"/>
            <a:ext cx="3977640" cy="274320"/>
          </a:xfrm>
          <a:prstGeom prst="rect">
            <a:avLst/>
          </a:prstGeom>
          <a:noFill/>
          <a:ln/>
        </p:spPr>
        <p:txBody>
          <a:bodyPr wrap="square" lIns="0" tIns="0" rIns="0" bIns="0" rtlCol="0" anchor="t"/>
          <a:lstStyle/>
          <a:p>
            <a:pPr algn="ctr" indent="0" marL="0">
              <a:buNone/>
            </a:pPr>
            <a:r>
              <a:rPr lang="en-US" sz="1200" dirty="0">
                <a:solidFill>
                  <a:schemeClr val="accent6"/>
                </a:solidFill>
              </a:rPr>
              <a:t>Private parent–teacher messaging</a:t>
            </a:r>
            <a:endParaRPr lang="en-US" sz="1200" dirty="0"/>
          </a:p>
        </p:txBody>
      </p:sp>
      <p:sp>
        <p:nvSpPr>
          <p:cNvPr id="10" name="Text 5"/>
          <p:cNvSpPr txBox="1"/>
          <p:nvPr/>
        </p:nvSpPr>
        <p:spPr>
          <a:xfrm>
            <a:off x="502920" y="4160520"/>
            <a:ext cx="8138160" cy="365760"/>
          </a:xfrm>
          <a:prstGeom prst="rect">
            <a:avLst/>
          </a:prstGeom>
          <a:noFill/>
          <a:ln/>
        </p:spPr>
        <p:txBody>
          <a:bodyPr wrap="square" lIns="0" tIns="0" rIns="0" bIns="0" rtlCol="0" anchor="t"/>
          <a:lstStyle/>
          <a:p>
            <a:pPr algn="ctr" indent="0" marL="0">
              <a:buNone/>
            </a:pPr>
            <a:r>
              <a:rPr lang="en-US" sz="1600" b="1" dirty="0">
                <a:solidFill>
                  <a:schemeClr val="accent1"/>
                </a:solidFill>
              </a:rPr>
              <a:t>Receipts, reminders, results and messages can all be sent by email.</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Database design</a:t>
            </a:r>
            <a:endParaRPr lang="en-US" sz="2800" dirty="0"/>
          </a:p>
        </p:txBody>
      </p:sp>
      <p:pic>
        <p:nvPicPr>
          <p:cNvPr id="4" name="ERD" descr="Entity relationship diagram">    </p:cNvPr>
          <p:cNvPicPr>
            <a:picLocks noChangeAspect="1"/>
          </p:cNvPicPr>
          <p:nvPr/>
        </p:nvPicPr>
        <p:blipFill>
          <a:blip r:embed="rId1"/>
          <a:stretch>
            <a:fillRect/>
          </a:stretch>
        </p:blipFill>
        <p:spPr>
          <a:xfrm>
            <a:off x="457200" y="1005840"/>
            <a:ext cx="4787798" cy="3520440"/>
          </a:xfrm>
          <a:prstGeom prst="rect">
            <a:avLst/>
          </a:prstGeom>
        </p:spPr>
      </p:pic>
      <p:sp>
        <p:nvSpPr>
          <p:cNvPr id="5" name="Text 1"/>
          <p:cNvSpPr txBox="1"/>
          <p:nvPr/>
        </p:nvSpPr>
        <p:spPr>
          <a:xfrm>
            <a:off x="5989320" y="1051560"/>
            <a:ext cx="2651760" cy="8686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6" name="Text 2"/>
          <p:cNvSpPr txBox="1"/>
          <p:nvPr/>
        </p:nvSpPr>
        <p:spPr>
          <a:xfrm>
            <a:off x="5989320" y="1874520"/>
            <a:ext cx="2651760" cy="320040"/>
          </a:xfrm>
          <a:prstGeom prst="rect">
            <a:avLst/>
          </a:prstGeom>
          <a:noFill/>
          <a:ln/>
        </p:spPr>
        <p:txBody>
          <a:bodyPr wrap="square" lIns="0" tIns="0" rIns="0" bIns="0" rtlCol="0" anchor="t"/>
          <a:lstStyle/>
          <a:p>
            <a:pPr indent="0" marL="0">
              <a:buNone/>
            </a:pPr>
            <a:r>
              <a:rPr lang="en-US" sz="1400" dirty="0">
                <a:solidFill>
                  <a:schemeClr val="accent6"/>
                </a:solidFill>
              </a:rPr>
              <a:t>related tables</a:t>
            </a:r>
            <a:endParaRPr lang="en-US" sz="1400" dirty="0"/>
          </a:p>
        </p:txBody>
      </p:sp>
      <p:sp>
        <p:nvSpPr>
          <p:cNvPr id="7" name="Text 3"/>
          <p:cNvSpPr txBox="1"/>
          <p:nvPr/>
        </p:nvSpPr>
        <p:spPr>
          <a:xfrm>
            <a:off x="5989320" y="2377440"/>
            <a:ext cx="269748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Foreign keys link every record</a:t>
            </a:r>
            <a:endParaRPr lang="en-US" sz="1400" dirty="0"/>
          </a:p>
          <a:p>
            <a:pPr marL="342900" indent="-342900">
              <a:spcAft>
                <a:spcPts val="800"/>
              </a:spcAft>
              <a:buSzPct val="100000"/>
              <a:buChar char="•"/>
            </a:pPr>
            <a:r>
              <a:rPr lang="en-US" sz="1400" dirty="0">
                <a:solidFill>
                  <a:schemeClr val="tx1"/>
                </a:solidFill>
              </a:rPr>
              <a:t>Unique rules block duplicates</a:t>
            </a:r>
            <a:endParaRPr lang="en-US" sz="1400" dirty="0"/>
          </a:p>
          <a:p>
            <a:pPr marL="342900" indent="-342900">
              <a:spcAft>
                <a:spcPts val="800"/>
              </a:spcAft>
              <a:buSzPct val="100000"/>
              <a:buChar char="•"/>
            </a:pPr>
            <a:r>
              <a:rPr lang="en-US" sz="1400" dirty="0">
                <a:solidFill>
                  <a:schemeClr val="tx1"/>
                </a:solidFill>
              </a:rPr>
              <a:t>Migrations update it without losing data</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Security built in</a:t>
            </a:r>
            <a:endParaRPr lang="en-US" sz="2800" dirty="0"/>
          </a:p>
        </p:txBody>
      </p:sp>
      <p:sp>
        <p:nvSpPr>
          <p:cNvPr id="4" name="security 1"/>
          <p:cNvSpPr/>
          <p:nvPr/>
        </p:nvSpPr>
        <p:spPr>
          <a:xfrm>
            <a:off x="457200" y="1097280"/>
            <a:ext cx="4023360" cy="987552"/>
          </a:xfrm>
          <a:prstGeom prst="roundRect">
            <a:avLst>
              <a:gd name="adj" fmla="val 7407"/>
            </a:avLst>
          </a:prstGeom>
          <a:solidFill>
            <a:schemeClr val="bg2"/>
          </a:solidFill>
          <a:ln w="12700">
            <a:solidFill>
              <a:schemeClr val="bg2"/>
            </a:solidFill>
            <a:prstDash val="solid"/>
          </a:ln>
        </p:spPr>
      </p:sp>
      <p:sp>
        <p:nvSpPr>
          <p:cNvPr id="5" name="security tick 1"/>
          <p:cNvSpPr/>
          <p:nvPr/>
        </p:nvSpPr>
        <p:spPr>
          <a:xfrm>
            <a:off x="685800" y="1371600"/>
            <a:ext cx="438912" cy="438912"/>
          </a:xfrm>
          <a:prstGeom prst="ellipse">
            <a:avLst/>
          </a:prstGeom>
          <a:solidFill>
            <a:schemeClr val="accent3"/>
          </a:solidFill>
          <a:ln w="12700">
            <a:solidFill>
              <a:schemeClr val="accent3"/>
            </a:solidFill>
            <a:prstDash val="solid"/>
          </a:ln>
        </p:spPr>
      </p:sp>
      <p:sp>
        <p:nvSpPr>
          <p:cNvPr id="6" name="Text 3"/>
          <p:cNvSpPr txBox="1"/>
          <p:nvPr/>
        </p:nvSpPr>
        <p:spPr>
          <a:xfrm>
            <a:off x="685800" y="137160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7" name="Text 4"/>
          <p:cNvSpPr txBox="1"/>
          <p:nvPr/>
        </p:nvSpPr>
        <p:spPr>
          <a:xfrm>
            <a:off x="1325880" y="1252728"/>
            <a:ext cx="3017520" cy="347472"/>
          </a:xfrm>
          <a:prstGeom prst="rect">
            <a:avLst/>
          </a:prstGeom>
          <a:noFill/>
          <a:ln/>
        </p:spPr>
        <p:txBody>
          <a:bodyPr wrap="square" lIns="0" tIns="0" rIns="0" bIns="0" rtlCol="0" anchor="t"/>
          <a:lstStyle/>
          <a:p>
            <a:pPr indent="0" marL="0">
              <a:buNone/>
            </a:pPr>
            <a:r>
              <a:rPr lang="en-US" sz="1600" b="1" dirty="0">
                <a:solidFill>
                  <a:schemeClr val="tx2"/>
                </a:solidFill>
              </a:rPr>
              <a:t>Hashed passwords</a:t>
            </a:r>
            <a:endParaRPr lang="en-US" sz="1600" dirty="0"/>
          </a:p>
        </p:txBody>
      </p:sp>
      <p:sp>
        <p:nvSpPr>
          <p:cNvPr id="8" name="Text 5"/>
          <p:cNvSpPr txBox="1"/>
          <p:nvPr/>
        </p:nvSpPr>
        <p:spPr>
          <a:xfrm>
            <a:off x="1325880" y="1618488"/>
            <a:ext cx="3017520" cy="365760"/>
          </a:xfrm>
          <a:prstGeom prst="rect">
            <a:avLst/>
          </a:prstGeom>
          <a:noFill/>
          <a:ln/>
        </p:spPr>
        <p:txBody>
          <a:bodyPr wrap="square" lIns="0" tIns="0" rIns="0" bIns="0" rtlCol="0" anchor="t"/>
          <a:lstStyle/>
          <a:p>
            <a:pPr indent="0" marL="0">
              <a:buNone/>
            </a:pPr>
            <a:r>
              <a:rPr lang="en-US" sz="1300" dirty="0">
                <a:solidFill>
                  <a:schemeClr val="tx1"/>
                </a:solidFill>
              </a:rPr>
              <a:t>bcrypt; never stored in plain text</a:t>
            </a:r>
            <a:endParaRPr lang="en-US" sz="1300" dirty="0"/>
          </a:p>
        </p:txBody>
      </p:sp>
      <p:sp>
        <p:nvSpPr>
          <p:cNvPr id="9" name="security 2"/>
          <p:cNvSpPr/>
          <p:nvPr/>
        </p:nvSpPr>
        <p:spPr>
          <a:xfrm>
            <a:off x="4663440" y="1097280"/>
            <a:ext cx="4023360" cy="987552"/>
          </a:xfrm>
          <a:prstGeom prst="roundRect">
            <a:avLst>
              <a:gd name="adj" fmla="val 7407"/>
            </a:avLst>
          </a:prstGeom>
          <a:solidFill>
            <a:schemeClr val="bg2"/>
          </a:solidFill>
          <a:ln w="12700">
            <a:solidFill>
              <a:schemeClr val="bg2"/>
            </a:solidFill>
            <a:prstDash val="solid"/>
          </a:ln>
        </p:spPr>
      </p:sp>
      <p:sp>
        <p:nvSpPr>
          <p:cNvPr id="10" name="security tick 2"/>
          <p:cNvSpPr/>
          <p:nvPr/>
        </p:nvSpPr>
        <p:spPr>
          <a:xfrm>
            <a:off x="4892040" y="1371600"/>
            <a:ext cx="438912" cy="438912"/>
          </a:xfrm>
          <a:prstGeom prst="ellipse">
            <a:avLst/>
          </a:prstGeom>
          <a:solidFill>
            <a:schemeClr val="accent3"/>
          </a:solidFill>
          <a:ln w="12700">
            <a:solidFill>
              <a:schemeClr val="accent3"/>
            </a:solidFill>
            <a:prstDash val="solid"/>
          </a:ln>
        </p:spPr>
      </p:sp>
      <p:sp>
        <p:nvSpPr>
          <p:cNvPr id="11" name="Text 8"/>
          <p:cNvSpPr txBox="1"/>
          <p:nvPr/>
        </p:nvSpPr>
        <p:spPr>
          <a:xfrm>
            <a:off x="4892040" y="137160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2" name="Text 9"/>
          <p:cNvSpPr txBox="1"/>
          <p:nvPr/>
        </p:nvSpPr>
        <p:spPr>
          <a:xfrm>
            <a:off x="5532120" y="1252728"/>
            <a:ext cx="3017520" cy="347472"/>
          </a:xfrm>
          <a:prstGeom prst="rect">
            <a:avLst/>
          </a:prstGeom>
          <a:noFill/>
          <a:ln/>
        </p:spPr>
        <p:txBody>
          <a:bodyPr wrap="square" lIns="0" tIns="0" rIns="0" bIns="0" rtlCol="0" anchor="t"/>
          <a:lstStyle/>
          <a:p>
            <a:pPr indent="0" marL="0">
              <a:buNone/>
            </a:pPr>
            <a:r>
              <a:rPr lang="en-US" sz="1600" b="1" dirty="0">
                <a:solidFill>
                  <a:schemeClr val="tx2"/>
                </a:solidFill>
              </a:rPr>
              <a:t>Role checks on every request</a:t>
            </a:r>
            <a:endParaRPr lang="en-US" sz="1600" dirty="0"/>
          </a:p>
        </p:txBody>
      </p:sp>
      <p:sp>
        <p:nvSpPr>
          <p:cNvPr id="13" name="Text 10"/>
          <p:cNvSpPr txBox="1"/>
          <p:nvPr/>
        </p:nvSpPr>
        <p:spPr>
          <a:xfrm>
            <a:off x="5532120" y="1618488"/>
            <a:ext cx="3017520" cy="365760"/>
          </a:xfrm>
          <a:prstGeom prst="rect">
            <a:avLst/>
          </a:prstGeom>
          <a:noFill/>
          <a:ln/>
        </p:spPr>
        <p:txBody>
          <a:bodyPr wrap="square" lIns="0" tIns="0" rIns="0" bIns="0" rtlCol="0" anchor="t"/>
          <a:lstStyle/>
          <a:p>
            <a:pPr indent="0" marL="0">
              <a:buNone/>
            </a:pPr>
            <a:r>
              <a:rPr lang="en-US" sz="1300" dirty="0">
                <a:solidFill>
                  <a:schemeClr val="tx1"/>
                </a:solidFill>
              </a:rPr>
              <a:t>Parents only ever see their own children</a:t>
            </a:r>
            <a:endParaRPr lang="en-US" sz="1300" dirty="0"/>
          </a:p>
        </p:txBody>
      </p:sp>
      <p:sp>
        <p:nvSpPr>
          <p:cNvPr id="14" name="security 3"/>
          <p:cNvSpPr/>
          <p:nvPr/>
        </p:nvSpPr>
        <p:spPr>
          <a:xfrm>
            <a:off x="457200" y="2240280"/>
            <a:ext cx="4023360" cy="987552"/>
          </a:xfrm>
          <a:prstGeom prst="roundRect">
            <a:avLst>
              <a:gd name="adj" fmla="val 7407"/>
            </a:avLst>
          </a:prstGeom>
          <a:solidFill>
            <a:schemeClr val="bg2"/>
          </a:solidFill>
          <a:ln w="12700">
            <a:solidFill>
              <a:schemeClr val="bg2"/>
            </a:solidFill>
            <a:prstDash val="solid"/>
          </a:ln>
        </p:spPr>
      </p:sp>
      <p:sp>
        <p:nvSpPr>
          <p:cNvPr id="15" name="security tick 3"/>
          <p:cNvSpPr/>
          <p:nvPr/>
        </p:nvSpPr>
        <p:spPr>
          <a:xfrm>
            <a:off x="685800" y="2514600"/>
            <a:ext cx="438912" cy="438912"/>
          </a:xfrm>
          <a:prstGeom prst="ellipse">
            <a:avLst/>
          </a:prstGeom>
          <a:solidFill>
            <a:schemeClr val="accent3"/>
          </a:solidFill>
          <a:ln w="12700">
            <a:solidFill>
              <a:schemeClr val="accent3"/>
            </a:solidFill>
            <a:prstDash val="solid"/>
          </a:ln>
        </p:spPr>
      </p:sp>
      <p:sp>
        <p:nvSpPr>
          <p:cNvPr id="16" name="Text 13"/>
          <p:cNvSpPr txBox="1"/>
          <p:nvPr/>
        </p:nvSpPr>
        <p:spPr>
          <a:xfrm>
            <a:off x="685800" y="251460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17" name="Text 14"/>
          <p:cNvSpPr txBox="1"/>
          <p:nvPr/>
        </p:nvSpPr>
        <p:spPr>
          <a:xfrm>
            <a:off x="1325880" y="2395728"/>
            <a:ext cx="3017520" cy="347472"/>
          </a:xfrm>
          <a:prstGeom prst="rect">
            <a:avLst/>
          </a:prstGeom>
          <a:noFill/>
          <a:ln/>
        </p:spPr>
        <p:txBody>
          <a:bodyPr wrap="square" lIns="0" tIns="0" rIns="0" bIns="0" rtlCol="0" anchor="t"/>
          <a:lstStyle/>
          <a:p>
            <a:pPr indent="0" marL="0">
              <a:buNone/>
            </a:pPr>
            <a:r>
              <a:rPr lang="en-US" sz="1600" b="1" dirty="0">
                <a:solidFill>
                  <a:schemeClr val="tx2"/>
                </a:solidFill>
              </a:rPr>
              <a:t>Sign-in limits</a:t>
            </a:r>
            <a:endParaRPr lang="en-US" sz="1600" dirty="0"/>
          </a:p>
        </p:txBody>
      </p:sp>
      <p:sp>
        <p:nvSpPr>
          <p:cNvPr id="18" name="Text 15"/>
          <p:cNvSpPr txBox="1"/>
          <p:nvPr/>
        </p:nvSpPr>
        <p:spPr>
          <a:xfrm>
            <a:off x="1325880" y="2761488"/>
            <a:ext cx="3017520" cy="365760"/>
          </a:xfrm>
          <a:prstGeom prst="rect">
            <a:avLst/>
          </a:prstGeom>
          <a:noFill/>
          <a:ln/>
        </p:spPr>
        <p:txBody>
          <a:bodyPr wrap="square" lIns="0" tIns="0" rIns="0" bIns="0" rtlCol="0" anchor="t"/>
          <a:lstStyle/>
          <a:p>
            <a:pPr indent="0" marL="0">
              <a:buNone/>
            </a:pPr>
            <a:r>
              <a:rPr lang="en-US" sz="1300" dirty="0">
                <a:solidFill>
                  <a:schemeClr val="tx1"/>
                </a:solidFill>
              </a:rPr>
              <a:t>10 failed attempts → 15-minute block</a:t>
            </a:r>
            <a:endParaRPr lang="en-US" sz="1300" dirty="0"/>
          </a:p>
        </p:txBody>
      </p:sp>
      <p:sp>
        <p:nvSpPr>
          <p:cNvPr id="19" name="security 4"/>
          <p:cNvSpPr/>
          <p:nvPr/>
        </p:nvSpPr>
        <p:spPr>
          <a:xfrm>
            <a:off x="4663440" y="2240280"/>
            <a:ext cx="4023360" cy="987552"/>
          </a:xfrm>
          <a:prstGeom prst="roundRect">
            <a:avLst>
              <a:gd name="adj" fmla="val 7407"/>
            </a:avLst>
          </a:prstGeom>
          <a:solidFill>
            <a:schemeClr val="bg2"/>
          </a:solidFill>
          <a:ln w="12700">
            <a:solidFill>
              <a:schemeClr val="bg2"/>
            </a:solidFill>
            <a:prstDash val="solid"/>
          </a:ln>
        </p:spPr>
      </p:sp>
      <p:sp>
        <p:nvSpPr>
          <p:cNvPr id="20" name="security tick 4"/>
          <p:cNvSpPr/>
          <p:nvPr/>
        </p:nvSpPr>
        <p:spPr>
          <a:xfrm>
            <a:off x="4892040" y="2514600"/>
            <a:ext cx="438912" cy="438912"/>
          </a:xfrm>
          <a:prstGeom prst="ellipse">
            <a:avLst/>
          </a:prstGeom>
          <a:solidFill>
            <a:schemeClr val="accent3"/>
          </a:solidFill>
          <a:ln w="12700">
            <a:solidFill>
              <a:schemeClr val="accent3"/>
            </a:solidFill>
            <a:prstDash val="solid"/>
          </a:ln>
        </p:spPr>
      </p:sp>
      <p:sp>
        <p:nvSpPr>
          <p:cNvPr id="21" name="Text 18"/>
          <p:cNvSpPr txBox="1"/>
          <p:nvPr/>
        </p:nvSpPr>
        <p:spPr>
          <a:xfrm>
            <a:off x="4892040" y="251460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2" name="Text 19"/>
          <p:cNvSpPr txBox="1"/>
          <p:nvPr/>
        </p:nvSpPr>
        <p:spPr>
          <a:xfrm>
            <a:off x="5532120" y="2395728"/>
            <a:ext cx="3017520" cy="347472"/>
          </a:xfrm>
          <a:prstGeom prst="rect">
            <a:avLst/>
          </a:prstGeom>
          <a:noFill/>
          <a:ln/>
        </p:spPr>
        <p:txBody>
          <a:bodyPr wrap="square" lIns="0" tIns="0" rIns="0" bIns="0" rtlCol="0" anchor="t"/>
          <a:lstStyle/>
          <a:p>
            <a:pPr indent="0" marL="0">
              <a:buNone/>
            </a:pPr>
            <a:r>
              <a:rPr lang="en-US" sz="1600" b="1" dirty="0">
                <a:solidFill>
                  <a:schemeClr val="tx2"/>
                </a:solidFill>
              </a:rPr>
              <a:t>Sessions time out</a:t>
            </a:r>
            <a:endParaRPr lang="en-US" sz="1600" dirty="0"/>
          </a:p>
        </p:txBody>
      </p:sp>
      <p:sp>
        <p:nvSpPr>
          <p:cNvPr id="23" name="Text 20"/>
          <p:cNvSpPr txBox="1"/>
          <p:nvPr/>
        </p:nvSpPr>
        <p:spPr>
          <a:xfrm>
            <a:off x="5532120" y="2761488"/>
            <a:ext cx="3017520" cy="365760"/>
          </a:xfrm>
          <a:prstGeom prst="rect">
            <a:avLst/>
          </a:prstGeom>
          <a:noFill/>
          <a:ln/>
        </p:spPr>
        <p:txBody>
          <a:bodyPr wrap="square" lIns="0" tIns="0" rIns="0" bIns="0" rtlCol="0" anchor="t"/>
          <a:lstStyle/>
          <a:p>
            <a:pPr indent="0" marL="0">
              <a:buNone/>
            </a:pPr>
            <a:r>
              <a:rPr lang="en-US" sz="1300" dirty="0">
                <a:solidFill>
                  <a:schemeClr val="tx1"/>
                </a:solidFill>
              </a:rPr>
              <a:t>Signed out after 30 idle minutes</a:t>
            </a:r>
            <a:endParaRPr lang="en-US" sz="1300" dirty="0"/>
          </a:p>
        </p:txBody>
      </p:sp>
      <p:sp>
        <p:nvSpPr>
          <p:cNvPr id="24" name="security 5"/>
          <p:cNvSpPr/>
          <p:nvPr/>
        </p:nvSpPr>
        <p:spPr>
          <a:xfrm>
            <a:off x="457200" y="3383280"/>
            <a:ext cx="4023360" cy="987552"/>
          </a:xfrm>
          <a:prstGeom prst="roundRect">
            <a:avLst>
              <a:gd name="adj" fmla="val 7407"/>
            </a:avLst>
          </a:prstGeom>
          <a:solidFill>
            <a:schemeClr val="bg2"/>
          </a:solidFill>
          <a:ln w="12700">
            <a:solidFill>
              <a:schemeClr val="bg2"/>
            </a:solidFill>
            <a:prstDash val="solid"/>
          </a:ln>
        </p:spPr>
      </p:sp>
      <p:sp>
        <p:nvSpPr>
          <p:cNvPr id="25" name="security tick 5"/>
          <p:cNvSpPr/>
          <p:nvPr/>
        </p:nvSpPr>
        <p:spPr>
          <a:xfrm>
            <a:off x="685800" y="3657600"/>
            <a:ext cx="438912" cy="438912"/>
          </a:xfrm>
          <a:prstGeom prst="ellipse">
            <a:avLst/>
          </a:prstGeom>
          <a:solidFill>
            <a:schemeClr val="accent3"/>
          </a:solidFill>
          <a:ln w="12700">
            <a:solidFill>
              <a:schemeClr val="accent3"/>
            </a:solidFill>
            <a:prstDash val="solid"/>
          </a:ln>
        </p:spPr>
      </p:sp>
      <p:sp>
        <p:nvSpPr>
          <p:cNvPr id="26" name="Text 23"/>
          <p:cNvSpPr txBox="1"/>
          <p:nvPr/>
        </p:nvSpPr>
        <p:spPr>
          <a:xfrm>
            <a:off x="685800" y="365760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27" name="Text 24"/>
          <p:cNvSpPr txBox="1"/>
          <p:nvPr/>
        </p:nvSpPr>
        <p:spPr>
          <a:xfrm>
            <a:off x="1325880" y="3538728"/>
            <a:ext cx="3017520" cy="347472"/>
          </a:xfrm>
          <a:prstGeom prst="rect">
            <a:avLst/>
          </a:prstGeom>
          <a:noFill/>
          <a:ln/>
        </p:spPr>
        <p:txBody>
          <a:bodyPr wrap="square" lIns="0" tIns="0" rIns="0" bIns="0" rtlCol="0" anchor="t"/>
          <a:lstStyle/>
          <a:p>
            <a:pPr indent="0" marL="0">
              <a:buNone/>
            </a:pPr>
            <a:r>
              <a:rPr lang="en-US" sz="1600" b="1" dirty="0">
                <a:solidFill>
                  <a:schemeClr val="tx2"/>
                </a:solidFill>
              </a:rPr>
              <a:t>One-time reset links</a:t>
            </a:r>
            <a:endParaRPr lang="en-US" sz="1600" dirty="0"/>
          </a:p>
        </p:txBody>
      </p:sp>
      <p:sp>
        <p:nvSpPr>
          <p:cNvPr id="28" name="Text 25"/>
          <p:cNvSpPr txBox="1"/>
          <p:nvPr/>
        </p:nvSpPr>
        <p:spPr>
          <a:xfrm>
            <a:off x="1325880" y="3904488"/>
            <a:ext cx="3017520" cy="365760"/>
          </a:xfrm>
          <a:prstGeom prst="rect">
            <a:avLst/>
          </a:prstGeom>
          <a:noFill/>
          <a:ln/>
        </p:spPr>
        <p:txBody>
          <a:bodyPr wrap="square" lIns="0" tIns="0" rIns="0" bIns="0" rtlCol="0" anchor="t"/>
          <a:lstStyle/>
          <a:p>
            <a:pPr indent="0" marL="0">
              <a:buNone/>
            </a:pPr>
            <a:r>
              <a:rPr lang="en-US" sz="1300" dirty="0">
                <a:solidFill>
                  <a:schemeClr val="tx1"/>
                </a:solidFill>
              </a:rPr>
              <a:t>Expire after an hour; used once</a:t>
            </a:r>
            <a:endParaRPr lang="en-US" sz="1300" dirty="0"/>
          </a:p>
        </p:txBody>
      </p:sp>
      <p:sp>
        <p:nvSpPr>
          <p:cNvPr id="29" name="security 6"/>
          <p:cNvSpPr/>
          <p:nvPr/>
        </p:nvSpPr>
        <p:spPr>
          <a:xfrm>
            <a:off x="4663440" y="3383280"/>
            <a:ext cx="4023360" cy="987552"/>
          </a:xfrm>
          <a:prstGeom prst="roundRect">
            <a:avLst>
              <a:gd name="adj" fmla="val 7407"/>
            </a:avLst>
          </a:prstGeom>
          <a:solidFill>
            <a:schemeClr val="bg2"/>
          </a:solidFill>
          <a:ln w="12700">
            <a:solidFill>
              <a:schemeClr val="bg2"/>
            </a:solidFill>
            <a:prstDash val="solid"/>
          </a:ln>
        </p:spPr>
      </p:sp>
      <p:sp>
        <p:nvSpPr>
          <p:cNvPr id="30" name="security tick 6"/>
          <p:cNvSpPr/>
          <p:nvPr/>
        </p:nvSpPr>
        <p:spPr>
          <a:xfrm>
            <a:off x="4892040" y="3657600"/>
            <a:ext cx="438912" cy="438912"/>
          </a:xfrm>
          <a:prstGeom prst="ellipse">
            <a:avLst/>
          </a:prstGeom>
          <a:solidFill>
            <a:schemeClr val="accent3"/>
          </a:solidFill>
          <a:ln w="12700">
            <a:solidFill>
              <a:schemeClr val="accent3"/>
            </a:solidFill>
            <a:prstDash val="solid"/>
          </a:ln>
        </p:spPr>
      </p:sp>
      <p:sp>
        <p:nvSpPr>
          <p:cNvPr id="31" name="Text 28"/>
          <p:cNvSpPr txBox="1"/>
          <p:nvPr/>
        </p:nvSpPr>
        <p:spPr>
          <a:xfrm>
            <a:off x="4892040" y="3657600"/>
            <a:ext cx="438912" cy="438912"/>
          </a:xfrm>
          <a:prstGeom prst="rect">
            <a:avLst/>
          </a:prstGeom>
          <a:noFill/>
          <a:ln/>
        </p:spPr>
        <p:txBody>
          <a:bodyPr wrap="square" lIns="0" tIns="0" rIns="0" bIns="0" rtlCol="0" anchor="ctr"/>
          <a:lstStyle/>
          <a:p>
            <a:pPr algn="ctr" indent="0" marL="0">
              <a:buNone/>
            </a:pPr>
            <a:r>
              <a:rPr lang="en-US" sz="1800" b="1" dirty="0">
                <a:solidFill>
                  <a:schemeClr val="bg1"/>
                </a:solidFill>
              </a:rPr>
              <a:t>✓</a:t>
            </a:r>
            <a:endParaRPr lang="en-US" sz="1800" dirty="0"/>
          </a:p>
        </p:txBody>
      </p:sp>
      <p:sp>
        <p:nvSpPr>
          <p:cNvPr id="32" name="Text 29"/>
          <p:cNvSpPr txBox="1"/>
          <p:nvPr/>
        </p:nvSpPr>
        <p:spPr>
          <a:xfrm>
            <a:off x="5532120" y="3538728"/>
            <a:ext cx="3017520" cy="347472"/>
          </a:xfrm>
          <a:prstGeom prst="rect">
            <a:avLst/>
          </a:prstGeom>
          <a:noFill/>
          <a:ln/>
        </p:spPr>
        <p:txBody>
          <a:bodyPr wrap="square" lIns="0" tIns="0" rIns="0" bIns="0" rtlCol="0" anchor="t"/>
          <a:lstStyle/>
          <a:p>
            <a:pPr indent="0" marL="0">
              <a:buNone/>
            </a:pPr>
            <a:r>
              <a:rPr lang="en-US" sz="1600" b="1" dirty="0">
                <a:solidFill>
                  <a:schemeClr val="tx2"/>
                </a:solidFill>
              </a:rPr>
              <a:t>Safe settings</a:t>
            </a:r>
            <a:endParaRPr lang="en-US" sz="1600" dirty="0"/>
          </a:p>
        </p:txBody>
      </p:sp>
      <p:sp>
        <p:nvSpPr>
          <p:cNvPr id="33" name="Text 30"/>
          <p:cNvSpPr txBox="1"/>
          <p:nvPr/>
        </p:nvSpPr>
        <p:spPr>
          <a:xfrm>
            <a:off x="5532120" y="3904488"/>
            <a:ext cx="3017520" cy="365760"/>
          </a:xfrm>
          <a:prstGeom prst="rect">
            <a:avLst/>
          </a:prstGeom>
          <a:noFill/>
          <a:ln/>
        </p:spPr>
        <p:txBody>
          <a:bodyPr wrap="square" lIns="0" tIns="0" rIns="0" bIns="0" rtlCol="0" anchor="t"/>
          <a:lstStyle/>
          <a:p>
            <a:pPr indent="0" marL="0">
              <a:buNone/>
            </a:pPr>
            <a:r>
              <a:rPr lang="en-US" sz="1300" dirty="0">
                <a:solidFill>
                  <a:schemeClr val="tx1"/>
                </a:solidFill>
              </a:rPr>
              <a:t>Won't start in production without a strong key</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Tested on every change</a:t>
            </a:r>
            <a:endParaRPr lang="en-US" sz="2800" dirty="0"/>
          </a:p>
        </p:txBody>
      </p:sp>
      <p:sp>
        <p:nvSpPr>
          <p:cNvPr id="4" name="Text 1"/>
          <p:cNvSpPr txBox="1"/>
          <p:nvPr/>
        </p:nvSpPr>
        <p:spPr>
          <a:xfrm>
            <a:off x="502920" y="1051560"/>
            <a:ext cx="128016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75</a:t>
            </a:r>
            <a:endParaRPr lang="en-US" sz="4800" dirty="0"/>
          </a:p>
        </p:txBody>
      </p:sp>
      <p:sp>
        <p:nvSpPr>
          <p:cNvPr id="5" name="Text 2"/>
          <p:cNvSpPr txBox="1"/>
          <p:nvPr/>
        </p:nvSpPr>
        <p:spPr>
          <a:xfrm>
            <a:off x="1783080" y="1161288"/>
            <a:ext cx="2194560" cy="594360"/>
          </a:xfrm>
          <a:prstGeom prst="rect">
            <a:avLst/>
          </a:prstGeom>
          <a:noFill/>
          <a:ln/>
        </p:spPr>
        <p:txBody>
          <a:bodyPr wrap="square" lIns="0" tIns="0" rIns="0" bIns="0" rtlCol="0" anchor="ctr"/>
          <a:lstStyle/>
          <a:p>
            <a:pPr indent="0" marL="0">
              <a:buNone/>
            </a:pPr>
            <a:r>
              <a:rPr lang="en-US" sz="1400" dirty="0">
                <a:solidFill>
                  <a:schemeClr val="tx1"/>
                </a:solidFill>
              </a:rPr>
              <a:t>automated tests, all passing</a:t>
            </a:r>
            <a:endParaRPr lang="en-US" sz="1400" dirty="0"/>
          </a:p>
        </p:txBody>
      </p:sp>
      <p:sp>
        <p:nvSpPr>
          <p:cNvPr id="6" name="Text 3"/>
          <p:cNvSpPr txBox="1"/>
          <p:nvPr/>
        </p:nvSpPr>
        <p:spPr>
          <a:xfrm>
            <a:off x="502920" y="2194560"/>
            <a:ext cx="128016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7" name="Text 4"/>
          <p:cNvSpPr txBox="1"/>
          <p:nvPr/>
        </p:nvSpPr>
        <p:spPr>
          <a:xfrm>
            <a:off x="1783080" y="2304288"/>
            <a:ext cx="2194560" cy="594360"/>
          </a:xfrm>
          <a:prstGeom prst="rect">
            <a:avLst/>
          </a:prstGeom>
          <a:noFill/>
          <a:ln/>
        </p:spPr>
        <p:txBody>
          <a:bodyPr wrap="square" lIns="0" tIns="0" rIns="0" bIns="0" rtlCol="0" anchor="ctr"/>
          <a:lstStyle/>
          <a:p>
            <a:pPr indent="0" marL="0">
              <a:buNone/>
            </a:pPr>
            <a:r>
              <a:rPr lang="en-US" sz="1400" dirty="0">
                <a:solidFill>
                  <a:schemeClr val="tx1"/>
                </a:solidFill>
              </a:rPr>
              <a:t>Node.js versions tested on every push</a:t>
            </a:r>
            <a:endParaRPr lang="en-US" sz="1400" dirty="0"/>
          </a:p>
        </p:txBody>
      </p:sp>
      <p:sp>
        <p:nvSpPr>
          <p:cNvPr id="8" name="Text 5"/>
          <p:cNvSpPr txBox="1"/>
          <p:nvPr/>
        </p:nvSpPr>
        <p:spPr>
          <a:xfrm>
            <a:off x="502920" y="3337560"/>
            <a:ext cx="128016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3</a:t>
            </a:r>
            <a:endParaRPr lang="en-US" sz="4800" dirty="0"/>
          </a:p>
        </p:txBody>
      </p:sp>
      <p:sp>
        <p:nvSpPr>
          <p:cNvPr id="9" name="Text 6"/>
          <p:cNvSpPr txBox="1"/>
          <p:nvPr/>
        </p:nvSpPr>
        <p:spPr>
          <a:xfrm>
            <a:off x="1783080" y="3447288"/>
            <a:ext cx="2194560" cy="594360"/>
          </a:xfrm>
          <a:prstGeom prst="rect">
            <a:avLst/>
          </a:prstGeom>
          <a:noFill/>
          <a:ln/>
        </p:spPr>
        <p:txBody>
          <a:bodyPr wrap="square" lIns="0" tIns="0" rIns="0" bIns="0" rtlCol="0" anchor="ctr"/>
          <a:lstStyle/>
          <a:p>
            <a:pPr indent="0" marL="0">
              <a:buNone/>
            </a:pPr>
            <a:r>
              <a:rPr lang="en-US" sz="1400" dirty="0">
                <a:solidFill>
                  <a:schemeClr val="tx1"/>
                </a:solidFill>
              </a:rPr>
              <a:t>real bugs caught and fixed before release</a:t>
            </a:r>
            <a:endParaRPr lang="en-US" sz="1400" dirty="0"/>
          </a:p>
        </p:txBody>
      </p:sp>
      <p:graphicFrame>
        <p:nvGraphicFramePr>
          <p:cNvPr id="10" name="Chart 0" descr=""/>
          <p:cNvGraphicFramePr/>
          <p:nvPr/>
        </p:nvGraphicFramePr>
        <p:xfrm>
          <a:off x="4206240" y="1005840"/>
          <a:ext cx="4480560"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How we built it</a:t>
            </a:r>
            <a:endParaRPr lang="en-US" sz="2800" dirty="0"/>
          </a:p>
        </p:txBody>
      </p:sp>
      <p:sp>
        <p:nvSpPr>
          <p:cNvPr id="4" name="timeline line"/>
          <p:cNvSpPr/>
          <p:nvPr/>
        </p:nvSpPr>
        <p:spPr>
          <a:xfrm>
            <a:off x="777240" y="2606040"/>
            <a:ext cx="7589520" cy="0"/>
          </a:xfrm>
          <a:prstGeom prst="line">
            <a:avLst/>
          </a:prstGeom>
          <a:noFill/>
          <a:ln w="25400">
            <a:solidFill>
              <a:schemeClr val="accent1"/>
            </a:solidFill>
            <a:prstDash val="solid"/>
          </a:ln>
        </p:spPr>
      </p:sp>
      <p:sp>
        <p:nvSpPr>
          <p:cNvPr id="5" name="badge 1"/>
          <p:cNvSpPr/>
          <p:nvPr/>
        </p:nvSpPr>
        <p:spPr>
          <a:xfrm>
            <a:off x="548640" y="2377440"/>
            <a:ext cx="457200" cy="457200"/>
          </a:xfrm>
          <a:prstGeom prst="ellipse">
            <a:avLst/>
          </a:prstGeom>
          <a:solidFill>
            <a:schemeClr val="accent1"/>
          </a:solidFill>
          <a:ln w="12700">
            <a:solidFill>
              <a:schemeClr val="accent1"/>
            </a:solidFill>
            <a:prstDash val="solid"/>
          </a:ln>
        </p:spPr>
      </p:sp>
      <p:sp>
        <p:nvSpPr>
          <p:cNvPr id="6" name="Text 3"/>
          <p:cNvSpPr txBox="1"/>
          <p:nvPr/>
        </p:nvSpPr>
        <p:spPr>
          <a:xfrm>
            <a:off x="548640" y="2377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228600" y="1371600"/>
            <a:ext cx="1097280" cy="868680"/>
          </a:xfrm>
          <a:prstGeom prst="rect">
            <a:avLst/>
          </a:prstGeom>
          <a:noFill/>
          <a:ln/>
        </p:spPr>
        <p:txBody>
          <a:bodyPr wrap="square" lIns="0" tIns="0" rIns="0" bIns="0" rtlCol="0" anchor="b"/>
          <a:lstStyle/>
          <a:p>
            <a:pPr algn="ctr" indent="0" marL="0">
              <a:buNone/>
            </a:pPr>
            <a:r>
              <a:rPr lang="en-US" sz="1200" b="1" dirty="0">
                <a:solidFill>
                  <a:schemeClr val="tx2"/>
                </a:solidFill>
              </a:rPr>
              <a:t>Core system</a:t>
            </a:r>
            <a:endParaRPr lang="en-US" sz="1200" dirty="0"/>
          </a:p>
          <a:p>
            <a:pPr algn="ctr" indent="0" marL="0">
              <a:buNone/>
            </a:pPr>
            <a:r>
              <a:rPr lang="en-US" sz="1000" dirty="0">
                <a:solidFill>
                  <a:schemeClr val="accent6"/>
                </a:solidFill>
              </a:rPr>
              <a:t>PR #1</a:t>
            </a:r>
            <a:endParaRPr lang="en-US" sz="1200" dirty="0"/>
          </a:p>
        </p:txBody>
      </p:sp>
      <p:sp>
        <p:nvSpPr>
          <p:cNvPr id="8" name="badge 2"/>
          <p:cNvSpPr/>
          <p:nvPr/>
        </p:nvSpPr>
        <p:spPr>
          <a:xfrm>
            <a:off x="1497330" y="2377440"/>
            <a:ext cx="457200" cy="457200"/>
          </a:xfrm>
          <a:prstGeom prst="ellipse">
            <a:avLst/>
          </a:prstGeom>
          <a:solidFill>
            <a:schemeClr val="accent2"/>
          </a:solidFill>
          <a:ln w="12700">
            <a:solidFill>
              <a:schemeClr val="accent2"/>
            </a:solidFill>
            <a:prstDash val="solid"/>
          </a:ln>
        </p:spPr>
      </p:sp>
      <p:sp>
        <p:nvSpPr>
          <p:cNvPr id="9" name="Text 6"/>
          <p:cNvSpPr txBox="1"/>
          <p:nvPr/>
        </p:nvSpPr>
        <p:spPr>
          <a:xfrm>
            <a:off x="1497330" y="237744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Text 7"/>
          <p:cNvSpPr txBox="1"/>
          <p:nvPr/>
        </p:nvSpPr>
        <p:spPr>
          <a:xfrm>
            <a:off x="1177290" y="2971800"/>
            <a:ext cx="1097280" cy="868680"/>
          </a:xfrm>
          <a:prstGeom prst="rect">
            <a:avLst/>
          </a:prstGeom>
          <a:noFill/>
          <a:ln/>
        </p:spPr>
        <p:txBody>
          <a:bodyPr wrap="square" lIns="0" tIns="0" rIns="0" bIns="0" rtlCol="0" anchor="t"/>
          <a:lstStyle/>
          <a:p>
            <a:pPr algn="ctr" indent="0" marL="0">
              <a:buNone/>
            </a:pPr>
            <a:r>
              <a:rPr lang="en-US" sz="1200" b="1" dirty="0">
                <a:solidFill>
                  <a:schemeClr val="tx2"/>
                </a:solidFill>
              </a:rPr>
              <a:t>Timetable &amp; calendar</a:t>
            </a:r>
            <a:endParaRPr lang="en-US" sz="1200" dirty="0"/>
          </a:p>
          <a:p>
            <a:pPr algn="ctr" indent="0" marL="0">
              <a:buNone/>
            </a:pPr>
            <a:r>
              <a:rPr lang="en-US" sz="1000" dirty="0">
                <a:solidFill>
                  <a:schemeClr val="accent6"/>
                </a:solidFill>
              </a:rPr>
              <a:t>PR #2</a:t>
            </a:r>
            <a:endParaRPr lang="en-US" sz="1200" dirty="0"/>
          </a:p>
        </p:txBody>
      </p:sp>
      <p:sp>
        <p:nvSpPr>
          <p:cNvPr id="11" name="badge 3"/>
          <p:cNvSpPr/>
          <p:nvPr/>
        </p:nvSpPr>
        <p:spPr>
          <a:xfrm>
            <a:off x="2446020" y="237744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2446020" y="2377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0"/>
          <p:cNvSpPr txBox="1"/>
          <p:nvPr/>
        </p:nvSpPr>
        <p:spPr>
          <a:xfrm>
            <a:off x="2125980" y="1371600"/>
            <a:ext cx="1097280" cy="868680"/>
          </a:xfrm>
          <a:prstGeom prst="rect">
            <a:avLst/>
          </a:prstGeom>
          <a:noFill/>
          <a:ln/>
        </p:spPr>
        <p:txBody>
          <a:bodyPr wrap="square" lIns="0" tIns="0" rIns="0" bIns="0" rtlCol="0" anchor="b"/>
          <a:lstStyle/>
          <a:p>
            <a:pPr algn="ctr" indent="0" marL="0">
              <a:buNone/>
            </a:pPr>
            <a:r>
              <a:rPr lang="en-US" sz="1200" b="1" dirty="0">
                <a:solidFill>
                  <a:schemeClr val="tx2"/>
                </a:solidFill>
              </a:rPr>
              <a:t>Messaging</a:t>
            </a:r>
            <a:endParaRPr lang="en-US" sz="1200" dirty="0"/>
          </a:p>
          <a:p>
            <a:pPr algn="ctr" indent="0" marL="0">
              <a:buNone/>
            </a:pPr>
            <a:r>
              <a:rPr lang="en-US" sz="1000" dirty="0">
                <a:solidFill>
                  <a:schemeClr val="accent6"/>
                </a:solidFill>
              </a:rPr>
              <a:t>PR #3</a:t>
            </a:r>
            <a:endParaRPr lang="en-US" sz="1200" dirty="0"/>
          </a:p>
        </p:txBody>
      </p:sp>
      <p:sp>
        <p:nvSpPr>
          <p:cNvPr id="14" name="badge 4"/>
          <p:cNvSpPr/>
          <p:nvPr/>
        </p:nvSpPr>
        <p:spPr>
          <a:xfrm>
            <a:off x="3394710" y="2377440"/>
            <a:ext cx="457200" cy="457200"/>
          </a:xfrm>
          <a:prstGeom prst="ellipse">
            <a:avLst/>
          </a:prstGeom>
          <a:solidFill>
            <a:schemeClr val="accent2"/>
          </a:solidFill>
          <a:ln w="12700">
            <a:solidFill>
              <a:schemeClr val="accent2"/>
            </a:solidFill>
            <a:prstDash val="solid"/>
          </a:ln>
        </p:spPr>
      </p:sp>
      <p:sp>
        <p:nvSpPr>
          <p:cNvPr id="15" name="Text 12"/>
          <p:cNvSpPr txBox="1"/>
          <p:nvPr/>
        </p:nvSpPr>
        <p:spPr>
          <a:xfrm>
            <a:off x="3394710" y="237744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6" name="Text 13"/>
          <p:cNvSpPr txBox="1"/>
          <p:nvPr/>
        </p:nvSpPr>
        <p:spPr>
          <a:xfrm>
            <a:off x="3074670" y="2971800"/>
            <a:ext cx="1097280" cy="868680"/>
          </a:xfrm>
          <a:prstGeom prst="rect">
            <a:avLst/>
          </a:prstGeom>
          <a:noFill/>
          <a:ln/>
        </p:spPr>
        <p:txBody>
          <a:bodyPr wrap="square" lIns="0" tIns="0" rIns="0" bIns="0" rtlCol="0" anchor="t"/>
          <a:lstStyle/>
          <a:p>
            <a:pPr algn="ctr" indent="0" marL="0">
              <a:buNone/>
            </a:pPr>
            <a:r>
              <a:rPr lang="en-US" sz="1200" b="1" dirty="0">
                <a:solidFill>
                  <a:schemeClr val="tx2"/>
                </a:solidFill>
              </a:rPr>
              <a:t>Data backup</a:t>
            </a:r>
            <a:endParaRPr lang="en-US" sz="1200" dirty="0"/>
          </a:p>
          <a:p>
            <a:pPr algn="ctr" indent="0" marL="0">
              <a:buNone/>
            </a:pPr>
            <a:r>
              <a:rPr lang="en-US" sz="1000" dirty="0">
                <a:solidFill>
                  <a:schemeClr val="accent6"/>
                </a:solidFill>
              </a:rPr>
              <a:t>PR #4</a:t>
            </a:r>
            <a:endParaRPr lang="en-US" sz="1200" dirty="0"/>
          </a:p>
        </p:txBody>
      </p:sp>
      <p:sp>
        <p:nvSpPr>
          <p:cNvPr id="17" name="badge 5"/>
          <p:cNvSpPr/>
          <p:nvPr/>
        </p:nvSpPr>
        <p:spPr>
          <a:xfrm>
            <a:off x="4343400" y="2377440"/>
            <a:ext cx="457200" cy="457200"/>
          </a:xfrm>
          <a:prstGeom prst="ellipse">
            <a:avLst/>
          </a:prstGeom>
          <a:solidFill>
            <a:schemeClr val="accent1"/>
          </a:solidFill>
          <a:ln w="12700">
            <a:solidFill>
              <a:schemeClr val="accent1"/>
            </a:solidFill>
            <a:prstDash val="solid"/>
          </a:ln>
        </p:spPr>
      </p:sp>
      <p:sp>
        <p:nvSpPr>
          <p:cNvPr id="18" name="Text 15"/>
          <p:cNvSpPr txBox="1"/>
          <p:nvPr/>
        </p:nvSpPr>
        <p:spPr>
          <a:xfrm>
            <a:off x="4343400" y="2377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6"/>
          <p:cNvSpPr txBox="1"/>
          <p:nvPr/>
        </p:nvSpPr>
        <p:spPr>
          <a:xfrm>
            <a:off x="4023360" y="1371600"/>
            <a:ext cx="1097280" cy="868680"/>
          </a:xfrm>
          <a:prstGeom prst="rect">
            <a:avLst/>
          </a:prstGeom>
          <a:noFill/>
          <a:ln/>
        </p:spPr>
        <p:txBody>
          <a:bodyPr wrap="square" lIns="0" tIns="0" rIns="0" bIns="0" rtlCol="0" anchor="b"/>
          <a:lstStyle/>
          <a:p>
            <a:pPr algn="ctr" indent="0" marL="0">
              <a:buNone/>
            </a:pPr>
            <a:r>
              <a:rPr lang="en-US" sz="1200" b="1" dirty="0">
                <a:solidFill>
                  <a:schemeClr val="tx2"/>
                </a:solidFill>
              </a:rPr>
              <a:t>Password reset</a:t>
            </a:r>
            <a:endParaRPr lang="en-US" sz="1200" dirty="0"/>
          </a:p>
          <a:p>
            <a:pPr algn="ctr" indent="0" marL="0">
              <a:buNone/>
            </a:pPr>
            <a:r>
              <a:rPr lang="en-US" sz="1000" dirty="0">
                <a:solidFill>
                  <a:schemeClr val="accent6"/>
                </a:solidFill>
              </a:rPr>
              <a:t>PR #5</a:t>
            </a:r>
            <a:endParaRPr lang="en-US" sz="1200" dirty="0"/>
          </a:p>
        </p:txBody>
      </p:sp>
      <p:sp>
        <p:nvSpPr>
          <p:cNvPr id="20" name="badge 6"/>
          <p:cNvSpPr/>
          <p:nvPr/>
        </p:nvSpPr>
        <p:spPr>
          <a:xfrm>
            <a:off x="5292090" y="2377440"/>
            <a:ext cx="457200" cy="457200"/>
          </a:xfrm>
          <a:prstGeom prst="ellipse">
            <a:avLst/>
          </a:prstGeom>
          <a:solidFill>
            <a:schemeClr val="accent2"/>
          </a:solidFill>
          <a:ln w="12700">
            <a:solidFill>
              <a:schemeClr val="accent2"/>
            </a:solidFill>
            <a:prstDash val="solid"/>
          </a:ln>
        </p:spPr>
      </p:sp>
      <p:sp>
        <p:nvSpPr>
          <p:cNvPr id="21" name="Text 18"/>
          <p:cNvSpPr txBox="1"/>
          <p:nvPr/>
        </p:nvSpPr>
        <p:spPr>
          <a:xfrm>
            <a:off x="5292090" y="237744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22" name="Text 19"/>
          <p:cNvSpPr txBox="1"/>
          <p:nvPr/>
        </p:nvSpPr>
        <p:spPr>
          <a:xfrm>
            <a:off x="4972050" y="2971800"/>
            <a:ext cx="1097280" cy="868680"/>
          </a:xfrm>
          <a:prstGeom prst="rect">
            <a:avLst/>
          </a:prstGeom>
          <a:noFill/>
          <a:ln/>
        </p:spPr>
        <p:txBody>
          <a:bodyPr wrap="square" lIns="0" tIns="0" rIns="0" bIns="0" rtlCol="0" anchor="t"/>
          <a:lstStyle/>
          <a:p>
            <a:pPr algn="ctr" indent="0" marL="0">
              <a:buNone/>
            </a:pPr>
            <a:r>
              <a:rPr lang="en-US" sz="1200" b="1" dirty="0">
                <a:solidFill>
                  <a:schemeClr val="tx2"/>
                </a:solidFill>
              </a:rPr>
              <a:t>Reports &amp; export</a:t>
            </a:r>
            <a:endParaRPr lang="en-US" sz="1200" dirty="0"/>
          </a:p>
          <a:p>
            <a:pPr algn="ctr" indent="0" marL="0">
              <a:buNone/>
            </a:pPr>
            <a:r>
              <a:rPr lang="en-US" sz="1000" dirty="0">
                <a:solidFill>
                  <a:schemeClr val="accent6"/>
                </a:solidFill>
              </a:rPr>
              <a:t>PR #6</a:t>
            </a:r>
            <a:endParaRPr lang="en-US" sz="1200" dirty="0"/>
          </a:p>
        </p:txBody>
      </p:sp>
      <p:sp>
        <p:nvSpPr>
          <p:cNvPr id="23" name="badge 7"/>
          <p:cNvSpPr/>
          <p:nvPr/>
        </p:nvSpPr>
        <p:spPr>
          <a:xfrm>
            <a:off x="6240780" y="2377440"/>
            <a:ext cx="457200" cy="457200"/>
          </a:xfrm>
          <a:prstGeom prst="ellipse">
            <a:avLst/>
          </a:prstGeom>
          <a:solidFill>
            <a:schemeClr val="accent1"/>
          </a:solidFill>
          <a:ln w="12700">
            <a:solidFill>
              <a:schemeClr val="accent1"/>
            </a:solidFill>
            <a:prstDash val="solid"/>
          </a:ln>
        </p:spPr>
      </p:sp>
      <p:sp>
        <p:nvSpPr>
          <p:cNvPr id="24" name="Text 21"/>
          <p:cNvSpPr txBox="1"/>
          <p:nvPr/>
        </p:nvSpPr>
        <p:spPr>
          <a:xfrm>
            <a:off x="6240780" y="2377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5" name="Text 22"/>
          <p:cNvSpPr txBox="1"/>
          <p:nvPr/>
        </p:nvSpPr>
        <p:spPr>
          <a:xfrm>
            <a:off x="5920740" y="1371600"/>
            <a:ext cx="1097280" cy="868680"/>
          </a:xfrm>
          <a:prstGeom prst="rect">
            <a:avLst/>
          </a:prstGeom>
          <a:noFill/>
          <a:ln/>
        </p:spPr>
        <p:txBody>
          <a:bodyPr wrap="square" lIns="0" tIns="0" rIns="0" bIns="0" rtlCol="0" anchor="b"/>
          <a:lstStyle/>
          <a:p>
            <a:pPr algn="ctr" indent="0" marL="0">
              <a:buNone/>
            </a:pPr>
            <a:r>
              <a:rPr lang="en-US" sz="1200" b="1" dirty="0">
                <a:solidFill>
                  <a:schemeClr val="tx2"/>
                </a:solidFill>
              </a:rPr>
              <a:t>Automatic testing</a:t>
            </a:r>
            <a:endParaRPr lang="en-US" sz="1200" dirty="0"/>
          </a:p>
          <a:p>
            <a:pPr algn="ctr" indent="0" marL="0">
              <a:buNone/>
            </a:pPr>
            <a:r>
              <a:rPr lang="en-US" sz="1000" dirty="0">
                <a:solidFill>
                  <a:schemeClr val="accent6"/>
                </a:solidFill>
              </a:rPr>
              <a:t>PR #7</a:t>
            </a:r>
            <a:endParaRPr lang="en-US" sz="1200" dirty="0"/>
          </a:p>
        </p:txBody>
      </p:sp>
      <p:sp>
        <p:nvSpPr>
          <p:cNvPr id="26" name="badge 8"/>
          <p:cNvSpPr/>
          <p:nvPr/>
        </p:nvSpPr>
        <p:spPr>
          <a:xfrm>
            <a:off x="7189470" y="2377440"/>
            <a:ext cx="457200" cy="457200"/>
          </a:xfrm>
          <a:prstGeom prst="ellipse">
            <a:avLst/>
          </a:prstGeom>
          <a:solidFill>
            <a:schemeClr val="accent2"/>
          </a:solidFill>
          <a:ln w="12700">
            <a:solidFill>
              <a:schemeClr val="accent2"/>
            </a:solidFill>
            <a:prstDash val="solid"/>
          </a:ln>
        </p:spPr>
      </p:sp>
      <p:sp>
        <p:nvSpPr>
          <p:cNvPr id="27" name="Text 24"/>
          <p:cNvSpPr txBox="1"/>
          <p:nvPr/>
        </p:nvSpPr>
        <p:spPr>
          <a:xfrm>
            <a:off x="7189470" y="237744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8</a:t>
            </a:r>
            <a:endParaRPr lang="en-US" sz="1400" dirty="0"/>
          </a:p>
        </p:txBody>
      </p:sp>
      <p:sp>
        <p:nvSpPr>
          <p:cNvPr id="28" name="Text 25"/>
          <p:cNvSpPr txBox="1"/>
          <p:nvPr/>
        </p:nvSpPr>
        <p:spPr>
          <a:xfrm>
            <a:off x="6869430" y="2971800"/>
            <a:ext cx="1097280" cy="868680"/>
          </a:xfrm>
          <a:prstGeom prst="rect">
            <a:avLst/>
          </a:prstGeom>
          <a:noFill/>
          <a:ln/>
        </p:spPr>
        <p:txBody>
          <a:bodyPr wrap="square" lIns="0" tIns="0" rIns="0" bIns="0" rtlCol="0" anchor="t"/>
          <a:lstStyle/>
          <a:p>
            <a:pPr algn="ctr" indent="0" marL="0">
              <a:buNone/>
            </a:pPr>
            <a:r>
              <a:rPr lang="en-US" sz="1200" b="1" dirty="0">
                <a:solidFill>
                  <a:schemeClr val="tx2"/>
                </a:solidFill>
              </a:rPr>
              <a:t>Migrations</a:t>
            </a:r>
            <a:endParaRPr lang="en-US" sz="1200" dirty="0"/>
          </a:p>
          <a:p>
            <a:pPr algn="ctr" indent="0" marL="0">
              <a:buNone/>
            </a:pPr>
            <a:r>
              <a:rPr lang="en-US" sz="1000" dirty="0">
                <a:solidFill>
                  <a:schemeClr val="accent6"/>
                </a:solidFill>
              </a:rPr>
              <a:t>PR #8</a:t>
            </a:r>
            <a:endParaRPr lang="en-US" sz="1200" dirty="0"/>
          </a:p>
        </p:txBody>
      </p:sp>
      <p:sp>
        <p:nvSpPr>
          <p:cNvPr id="29" name="badge 9"/>
          <p:cNvSpPr/>
          <p:nvPr/>
        </p:nvSpPr>
        <p:spPr>
          <a:xfrm>
            <a:off x="8138160" y="2377440"/>
            <a:ext cx="457200" cy="457200"/>
          </a:xfrm>
          <a:prstGeom prst="ellipse">
            <a:avLst/>
          </a:prstGeom>
          <a:solidFill>
            <a:schemeClr val="accent1"/>
          </a:solidFill>
          <a:ln w="12700">
            <a:solidFill>
              <a:schemeClr val="accent1"/>
            </a:solidFill>
            <a:prstDash val="solid"/>
          </a:ln>
        </p:spPr>
      </p:sp>
      <p:sp>
        <p:nvSpPr>
          <p:cNvPr id="30" name="Text 27"/>
          <p:cNvSpPr txBox="1"/>
          <p:nvPr/>
        </p:nvSpPr>
        <p:spPr>
          <a:xfrm>
            <a:off x="8138160" y="23774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9</a:t>
            </a:r>
            <a:endParaRPr lang="en-US" sz="1400" dirty="0"/>
          </a:p>
        </p:txBody>
      </p:sp>
      <p:sp>
        <p:nvSpPr>
          <p:cNvPr id="31" name="Text 28"/>
          <p:cNvSpPr txBox="1"/>
          <p:nvPr/>
        </p:nvSpPr>
        <p:spPr>
          <a:xfrm>
            <a:off x="7818120" y="1371600"/>
            <a:ext cx="1097280" cy="868680"/>
          </a:xfrm>
          <a:prstGeom prst="rect">
            <a:avLst/>
          </a:prstGeom>
          <a:noFill/>
          <a:ln/>
        </p:spPr>
        <p:txBody>
          <a:bodyPr wrap="square" lIns="0" tIns="0" rIns="0" bIns="0" rtlCol="0" anchor="b"/>
          <a:lstStyle/>
          <a:p>
            <a:pPr algn="ctr" indent="0" marL="0">
              <a:buNone/>
            </a:pPr>
            <a:r>
              <a:rPr lang="en-US" sz="1200" b="1" dirty="0">
                <a:solidFill>
                  <a:schemeClr val="tx2"/>
                </a:solidFill>
              </a:rPr>
              <a:t>Production ready</a:t>
            </a:r>
            <a:endParaRPr lang="en-US" sz="1200" dirty="0"/>
          </a:p>
          <a:p>
            <a:pPr algn="ctr" indent="0" marL="0">
              <a:buNone/>
            </a:pPr>
            <a:r>
              <a:rPr lang="en-US" sz="1000" dirty="0">
                <a:solidFill>
                  <a:schemeClr val="accent6"/>
                </a:solidFill>
              </a:rPr>
              <a:t>PR #9</a:t>
            </a:r>
            <a:endParaRPr lang="en-US" sz="1200" dirty="0"/>
          </a:p>
        </p:txBody>
      </p:sp>
      <p:sp>
        <p:nvSpPr>
          <p:cNvPr id="32" name="Text 29"/>
          <p:cNvSpPr txBox="1"/>
          <p:nvPr/>
        </p:nvSpPr>
        <p:spPr>
          <a:xfrm>
            <a:off x="457200" y="4206240"/>
            <a:ext cx="8229600" cy="320040"/>
          </a:xfrm>
          <a:prstGeom prst="rect">
            <a:avLst/>
          </a:prstGeom>
          <a:noFill/>
          <a:ln/>
        </p:spPr>
        <p:txBody>
          <a:bodyPr wrap="square" lIns="0" tIns="0" rIns="0" bIns="0" rtlCol="0" anchor="t"/>
          <a:lstStyle/>
          <a:p>
            <a:pPr algn="ctr" indent="0" marL="0">
              <a:buNone/>
            </a:pPr>
            <a:r>
              <a:rPr lang="en-US" sz="1400" b="1" dirty="0">
                <a:solidFill>
                  <a:schemeClr val="accent1"/>
                </a:solidFill>
              </a:rPr>
              <a:t>One branch and pull request per increment  ·  tests with every feature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Conclusion and next steps</a:t>
            </a:r>
            <a:endParaRPr lang="en-US" sz="2800" dirty="0"/>
          </a:p>
        </p:txBody>
      </p:sp>
      <p:sp>
        <p:nvSpPr>
          <p:cNvPr id="4" name="Text 1"/>
          <p:cNvSpPr txBox="1"/>
          <p:nvPr/>
        </p:nvSpPr>
        <p:spPr>
          <a:xfrm>
            <a:off x="457200" y="1051560"/>
            <a:ext cx="3931920" cy="365760"/>
          </a:xfrm>
          <a:prstGeom prst="rect">
            <a:avLst/>
          </a:prstGeom>
          <a:noFill/>
          <a:ln/>
        </p:spPr>
        <p:txBody>
          <a:bodyPr wrap="square" lIns="0" tIns="0" rIns="0" bIns="0" rtlCol="0" anchor="t"/>
          <a:lstStyle/>
          <a:p>
            <a:pPr indent="0" marL="0">
              <a:buNone/>
            </a:pPr>
            <a:r>
              <a:rPr lang="en-US" sz="1800" b="1" dirty="0">
                <a:solidFill>
                  <a:schemeClr val="tx2"/>
                </a:solidFill>
              </a:rPr>
              <a:t>What we achieved</a:t>
            </a:r>
            <a:endParaRPr lang="en-US" sz="1800" dirty="0"/>
          </a:p>
        </p:txBody>
      </p:sp>
      <p:sp>
        <p:nvSpPr>
          <p:cNvPr id="5" name="Text 2"/>
          <p:cNvSpPr txBox="1"/>
          <p:nvPr/>
        </p:nvSpPr>
        <p:spPr>
          <a:xfrm>
            <a:off x="457200" y="1508760"/>
            <a:ext cx="3931920" cy="27432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All SRS requirements built and tested</a:t>
            </a:r>
            <a:endParaRPr lang="en-US" sz="1500" dirty="0"/>
          </a:p>
          <a:p>
            <a:pPr marL="342900" indent="-342900">
              <a:spcAft>
                <a:spcPts val="1000"/>
              </a:spcAft>
              <a:buSzPct val="100000"/>
              <a:buChar char="•"/>
            </a:pPr>
            <a:r>
              <a:rPr lang="en-US" sz="1500" dirty="0">
                <a:solidFill>
                  <a:schemeClr val="tx1"/>
                </a:solidFill>
              </a:rPr>
              <a:t>Replaces paper registers and hand-worked results</a:t>
            </a:r>
            <a:endParaRPr lang="en-US" sz="1500" dirty="0"/>
          </a:p>
          <a:p>
            <a:pPr marL="342900" indent="-342900">
              <a:spcAft>
                <a:spcPts val="1000"/>
              </a:spcAft>
              <a:buSzPct val="100000"/>
              <a:buChar char="•"/>
            </a:pPr>
            <a:r>
              <a:rPr lang="en-US" sz="1500" dirty="0">
                <a:solidFill>
                  <a:schemeClr val="tx1"/>
                </a:solidFill>
              </a:rPr>
              <a:t>Parents get secure, timely information</a:t>
            </a:r>
            <a:endParaRPr lang="en-US" sz="1500" dirty="0"/>
          </a:p>
          <a:p>
            <a:pPr marL="342900" indent="-342900">
              <a:spcAft>
                <a:spcPts val="1000"/>
              </a:spcAft>
              <a:buSzPct val="100000"/>
              <a:buChar char="•"/>
            </a:pPr>
            <a:r>
              <a:rPr lang="en-US" sz="1500" dirty="0">
                <a:solidFill>
                  <a:schemeClr val="tx1"/>
                </a:solidFill>
              </a:rPr>
              <a:t>Ready to deploy: one server, HTTPS, daily backups</a:t>
            </a:r>
            <a:endParaRPr lang="en-US" sz="1500" dirty="0"/>
          </a:p>
        </p:txBody>
      </p:sp>
      <p:sp>
        <p:nvSpPr>
          <p:cNvPr id="6" name="future work card"/>
          <p:cNvSpPr/>
          <p:nvPr/>
        </p:nvSpPr>
        <p:spPr>
          <a:xfrm>
            <a:off x="4709160" y="1051560"/>
            <a:ext cx="3977640" cy="3429000"/>
          </a:xfrm>
          <a:prstGeom prst="roundRect">
            <a:avLst>
              <a:gd name="adj" fmla="val 2133"/>
            </a:avLst>
          </a:prstGeom>
          <a:solidFill>
            <a:schemeClr val="bg2"/>
          </a:solidFill>
          <a:ln w="12700">
            <a:solidFill>
              <a:schemeClr val="bg2"/>
            </a:solidFill>
            <a:prstDash val="solid"/>
          </a:ln>
        </p:spPr>
      </p:sp>
      <p:sp>
        <p:nvSpPr>
          <p:cNvPr id="7" name="Text 4"/>
          <p:cNvSpPr txBox="1"/>
          <p:nvPr/>
        </p:nvSpPr>
        <p:spPr>
          <a:xfrm>
            <a:off x="4937760" y="1234440"/>
            <a:ext cx="3566160" cy="365760"/>
          </a:xfrm>
          <a:prstGeom prst="rect">
            <a:avLst/>
          </a:prstGeom>
          <a:noFill/>
          <a:ln/>
        </p:spPr>
        <p:txBody>
          <a:bodyPr wrap="square" lIns="0" tIns="0" rIns="0" bIns="0" rtlCol="0" anchor="t"/>
          <a:lstStyle/>
          <a:p>
            <a:pPr indent="0" marL="0">
              <a:buNone/>
            </a:pPr>
            <a:r>
              <a:rPr lang="en-US" sz="1800" b="1" dirty="0">
                <a:solidFill>
                  <a:schemeClr val="accent1"/>
                </a:solidFill>
              </a:rPr>
              <a:t>Next steps</a:t>
            </a:r>
            <a:endParaRPr lang="en-US" sz="1800" dirty="0"/>
          </a:p>
        </p:txBody>
      </p:sp>
      <p:sp>
        <p:nvSpPr>
          <p:cNvPr id="8" name="Text 5"/>
          <p:cNvSpPr txBox="1"/>
          <p:nvPr/>
        </p:nvSpPr>
        <p:spPr>
          <a:xfrm>
            <a:off x="4937760" y="1691640"/>
            <a:ext cx="356616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Pilot with real records, one term at a time</a:t>
            </a:r>
            <a:endParaRPr lang="en-US" sz="1500" dirty="0"/>
          </a:p>
          <a:p>
            <a:pPr marL="342900" indent="-342900">
              <a:spcAft>
                <a:spcPts val="1000"/>
              </a:spcAft>
              <a:buSzPct val="100000"/>
              <a:buChar char="•"/>
            </a:pPr>
            <a:r>
              <a:rPr lang="en-US" sz="1500" dirty="0">
                <a:solidFill>
                  <a:schemeClr val="tx1"/>
                </a:solidFill>
              </a:rPr>
              <a:t>Online fee payment</a:t>
            </a:r>
            <a:endParaRPr lang="en-US" sz="1500" dirty="0"/>
          </a:p>
          <a:p>
            <a:pPr marL="342900" indent="-342900">
              <a:spcAft>
                <a:spcPts val="1000"/>
              </a:spcAft>
              <a:buSzPct val="100000"/>
              <a:buChar char="•"/>
            </a:pPr>
            <a:r>
              <a:rPr lang="en-US" sz="1500" dirty="0">
                <a:solidFill>
                  <a:schemeClr val="tx1"/>
                </a:solidFill>
              </a:rPr>
              <a:t>SMS alerts for parents</a:t>
            </a:r>
            <a:endParaRPr lang="en-US" sz="1500" dirty="0"/>
          </a:p>
          <a:p>
            <a:pPr marL="342900" indent="-342900">
              <a:spcAft>
                <a:spcPts val="1000"/>
              </a:spcAft>
              <a:buSzPct val="100000"/>
              <a:buChar char="•"/>
            </a:pPr>
            <a:r>
              <a:rPr lang="en-US" sz="1500" dirty="0">
                <a:solidFill>
                  <a:schemeClr val="tx1"/>
                </a:solidFill>
              </a:rPr>
              <a:t>Installable mobile app</a:t>
            </a:r>
            <a:endParaRPr lang="en-US" sz="1500" dirty="0"/>
          </a:p>
          <a:p>
            <a:pPr marL="342900" indent="-342900">
              <a:spcAft>
                <a:spcPts val="1000"/>
              </a:spcAft>
              <a:buSzPct val="100000"/>
              <a:buChar char="•"/>
            </a:pPr>
            <a:r>
              <a:rPr lang="en-US" sz="1500" dirty="0">
                <a:solidFill>
                  <a:schemeClr val="tx1"/>
                </a:solidFill>
              </a:rPr>
              <a:t>Import existing records from Excel</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1143000"/>
            <a:ext cx="4937760" cy="1371600"/>
          </a:xfrm>
          <a:prstGeom prst="rect">
            <a:avLst/>
          </a:prstGeom>
          <a:noFill/>
          <a:ln/>
        </p:spPr>
        <p:txBody>
          <a:bodyPr wrap="square" lIns="0" tIns="0" rIns="0" bIns="0" rtlCol="0" anchor="b"/>
          <a:lstStyle/>
          <a:p>
            <a:pPr algn="l" indent="0" marL="0">
              <a:buNone/>
            </a:pPr>
            <a:r>
              <a:rPr lang="en-US" sz="3600" b="1" dirty="0">
                <a:solidFill>
                  <a:schemeClr val="bg1"/>
                </a:solidFill>
                <a:latin typeface="Cambria" pitchFamily="34" charset="0"/>
                <a:ea typeface="Cambria" pitchFamily="34" charset="-122"/>
                <a:cs typeface="Cambria" pitchFamily="34" charset="-120"/>
              </a:rPr>
              <a:t>Thank you</a:t>
            </a:r>
            <a:endParaRPr lang="en-US" sz="3600" dirty="0"/>
          </a:p>
        </p:txBody>
      </p:sp>
      <p:sp>
        <p:nvSpPr>
          <p:cNvPr id="3" name="Text 0"/>
          <p:cNvSpPr/>
          <p:nvPr>
            <p:ph idx="101" type="body" hasCustomPrompt="1"/>
          </p:nvPr>
        </p:nvSpPr>
        <p:spPr>
          <a:xfrm>
            <a:off x="548640" y="2606040"/>
            <a:ext cx="4937760" cy="548640"/>
          </a:xfrm>
          <a:prstGeom prst="rect">
            <a:avLst/>
          </a:prstGeom>
          <a:noFill/>
          <a:ln/>
        </p:spPr>
        <p:txBody>
          <a:bodyPr wrap="square" lIns="0" tIns="0" rIns="0" bIns="0" rtlCol="0" anchor="t"/>
          <a:lstStyle/>
          <a:p>
            <a:pPr indent="0" marL="0">
              <a:buNone/>
            </a:pPr>
            <a:r>
              <a:rPr lang="en-US" sz="1800" dirty="0">
                <a:solidFill>
                  <a:schemeClr val="accent2"/>
                </a:solidFill>
              </a:rPr>
              <a:t>Questions and live demo</a:t>
            </a:r>
            <a:endParaRPr lang="en-US" sz="1800" dirty="0"/>
          </a:p>
        </p:txBody>
      </p:sp>
      <p:sp>
        <p:nvSpPr>
          <p:cNvPr id="4" name="Text 2"/>
          <p:cNvSpPr txBox="1"/>
          <p:nvPr/>
        </p:nvSpPr>
        <p:spPr>
          <a:xfrm>
            <a:off x="548640" y="3337560"/>
            <a:ext cx="4937760" cy="320040"/>
          </a:xfrm>
          <a:prstGeom prst="rect">
            <a:avLst/>
          </a:prstGeom>
          <a:noFill/>
          <a:ln/>
        </p:spPr>
        <p:txBody>
          <a:bodyPr wrap="square" lIns="0" tIns="0" rIns="0" bIns="0" rtlCol="0" anchor="t"/>
          <a:lstStyle/>
          <a:p>
            <a:pPr indent="0" marL="0">
              <a:buNone/>
            </a:pPr>
            <a:r>
              <a:rPr lang="en-US" sz="1400" dirty="0">
                <a:solidFill>
                  <a:schemeClr val="bg1"/>
                </a:solidFill>
              </a:rPr>
              <a:t>Demo sign-in:  admin@gvma.test  ·  Password123</a:t>
            </a:r>
            <a:endParaRPr lang="en-US" sz="1400" dirty="0"/>
          </a:p>
        </p:txBody>
      </p:sp>
      <p:sp>
        <p:nvSpPr>
          <p:cNvPr id="5" name="Text 3"/>
          <p:cNvSpPr txBox="1"/>
          <p:nvPr/>
        </p:nvSpPr>
        <p:spPr>
          <a:xfrm>
            <a:off x="548640" y="3703320"/>
            <a:ext cx="4937760" cy="320040"/>
          </a:xfrm>
          <a:prstGeom prst="rect">
            <a:avLst/>
          </a:prstGeom>
          <a:noFill/>
          <a:ln/>
        </p:spPr>
        <p:txBody>
          <a:bodyPr wrap="square" lIns="0" tIns="0" rIns="0" bIns="0" rtlCol="0" anchor="t"/>
          <a:lstStyle/>
          <a:p>
            <a:pPr indent="0" marL="0">
              <a:buNone/>
            </a:pPr>
            <a:r>
              <a:rPr lang="en-US" sz="1400" dirty="0">
                <a:solidFill>
                  <a:srgbClr val="B9C9D8"/>
                </a:solidFill>
              </a:rPr>
              <a:t>Code: github.com/dennisnomo89/Myproject</a:t>
            </a:r>
            <a:endParaRPr lang="en-US" sz="1400" dirty="0"/>
          </a:p>
        </p:txBody>
      </p:sp>
      <p:pic>
        <p:nvPicPr>
          <p:cNvPr id="6" name="phone screenshot" descr="Parent dashboard on a phone">    </p:cNvPr>
          <p:cNvPicPr>
            <a:picLocks noChangeAspect="1"/>
          </p:cNvPicPr>
          <p:nvPr/>
        </p:nvPicPr>
        <p:blipFill>
          <a:blip r:embed="rId1"/>
          <a:stretch>
            <a:fillRect/>
          </a:stretch>
        </p:blipFill>
        <p:spPr>
          <a:xfrm>
            <a:off x="6583680" y="594360"/>
            <a:ext cx="1816882" cy="3931920"/>
          </a:xfrm>
          <a:prstGeom prst="rect">
            <a:avLst/>
          </a:prstGeom>
          <a:effectLst>
            <a:outerShdw sx="100000" sy="100000" kx="0" ky="0" algn="bl" rotWithShape="0" blurRad="127000" dist="50800" dir="5400000">
              <a:srgbClr val="000000">
                <a:alpha val="35000"/>
              </a:srgbClr>
            </a:outerShdw>
          </a:effectLst>
        </p:spPr>
      </p:pic>
    </p:spTree>
  </p:cSld>
  <p:clrMapOvr>
    <a:masterClrMapping/>
  </p:clrMapOvr>
</p:sld>
</file>

<file path=ppt/theme/theme1.xml><?xml version="1.0" encoding="utf-8"?>
<a:theme xmlns:a="http://schemas.openxmlformats.org/drawingml/2006/main" name="GVMA Classroom">
  <a:themeElements>
    <a:clrScheme name="GVMA Classroom">
      <a:dk1>
        <a:srgbClr val="1D2733"/>
      </a:dk1>
      <a:lt1>
        <a:srgbClr val="FFFFFF"/>
      </a:lt1>
      <a:dk2>
        <a:srgbClr val="123B57"/>
      </a:dk2>
      <a:lt2>
        <a:srgbClr val="EEF3F8"/>
      </a:lt2>
      <a:accent1>
        <a:srgbClr val="1F5F8B"/>
      </a:accent1>
      <a:accent2>
        <a:srgbClr val="F2B632"/>
      </a:accent2>
      <a:accent3>
        <a:srgbClr val="2E8B6E"/>
      </a:accent3>
      <a:accent4>
        <a:srgbClr val="B5543A"/>
      </a:accent4>
      <a:accent5>
        <a:srgbClr val="6B8F3A"/>
      </a:accent5>
      <a:accent6>
        <a:srgbClr val="637083"/>
      </a:accent6>
      <a:hlink>
        <a:srgbClr val="1F5F8B"/>
      </a:hlink>
      <a:folHlink>
        <a:srgbClr val="174A6D"/>
      </a:folHlink>
    </a:clrScheme>
    <a:fontScheme name="GVMA Classroo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Global Virgins Montessori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Management System for Global Virgins Montessori Academy</dc:title>
  <dc:subject>PptxGenJS Presentation</dc:subject>
  <dc:creator>GVMA project group</dc:creator>
  <cp:lastModifiedBy>GVMA project group</cp:lastModifiedBy>
  <cp:revision>1</cp:revision>
  <dcterms:created xsi:type="dcterms:W3CDTF">2026-10-21T04:57:22Z</dcterms:created>
  <dcterms:modified xsi:type="dcterms:W3CDTF">2026-10-21T04:57:22Z</dcterms:modified>
</cp:coreProperties>
</file>